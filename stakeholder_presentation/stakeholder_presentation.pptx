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creators need a success forecast" id="{b480eb71-5b12-86ec-f801-8012cfbb578b}">
          <p14:sldIdLst>
            <p14:sldId id="256"/>
            <p14:sldId id="257"/>
            <p14:sldId id="258"/>
          </p14:sldIdLst>
        </p14:section>
        <p14:section name="What 331,675 past campaigns tell us" id="{35072359-90d8-7289-5378-c9f2facfa2e2}">
          <p14:sldIdLst>
            <p14:sldId id="259"/>
            <p14:sldId id="260"/>
            <p14:sldId id="261"/>
          </p14:sldIdLst>
        </p14:section>
        <p14:section name="How we built and tested the model" id="{69edc609-174b-66a9-f064-3f14fc8da338}">
          <p14:sldIdLst>
            <p14:sldId id="262"/>
            <p14:sldId id="263"/>
            <p14:sldId id="264"/>
            <p14:sldId id="265"/>
            <p14:sldId id="266"/>
          </p14:sldIdLst>
        </p14:section>
        <p14:section name="What creators should do next" id="{c8b11911-b9bf-7671-e91c-af9321cc0be1}">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Success rate by funding goal</c:v>
                </c:pt>
              </c:strCache>
            </c:strRef>
          </c:tx>
          <c:spPr>
            <a:solidFill>
              <a:srgbClr val="2A78D6"/>
            </a:solidFill>
            <a:effectLst/>
          </c:spPr>
          <c:invertIfNegative val="0"/>
          <c:dLbls>
            <c:numFmt formatCode="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under $1k</c:v>
                  </c:pt>
                  <c:pt idx="1">
                    <c:v>$1k–2.5k</c:v>
                  </c:pt>
                  <c:pt idx="2">
                    <c:v>$2.5k–5k</c:v>
                  </c:pt>
                  <c:pt idx="3">
                    <c:v>$5k–10k</c:v>
                  </c:pt>
                  <c:pt idx="4">
                    <c:v>$10k–25k</c:v>
                  </c:pt>
                  <c:pt idx="5">
                    <c:v>$25k–50k</c:v>
                  </c:pt>
                  <c:pt idx="6">
                    <c:v>over $50k</c:v>
                  </c:pt>
                </c:lvl>
              </c:multiLvlStrCache>
            </c:multiLvlStrRef>
          </c:cat>
          <c:val>
            <c:numRef>
              <c:f>Sheet1!$B$2:$B$8</c:f>
              <c:numCache>
                <c:formatCode>General</c:formatCode>
                <c:ptCount val="7"/>
                <c:pt idx="0">
                  <c:v>0.551</c:v>
                </c:pt>
                <c:pt idx="1">
                  <c:v>0.5</c:v>
                </c:pt>
                <c:pt idx="2">
                  <c:v>0.47</c:v>
                </c:pt>
                <c:pt idx="3">
                  <c:v>0.404</c:v>
                </c:pt>
                <c:pt idx="4">
                  <c:v>0.349</c:v>
                </c:pt>
                <c:pt idx="5">
                  <c:v>0.27</c:v>
                </c:pt>
                <c:pt idx="6">
                  <c:v>0.149</c:v>
                </c:pt>
              </c:numCache>
            </c:numRef>
          </c:val>
        </c:ser>
        <c:dLbls>
          <c:numFmt formatCode="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Success rate by main category</c:v>
                </c:pt>
              </c:strCache>
            </c:strRef>
          </c:tx>
          <c:spPr>
            <a:solidFill>
              <a:srgbClr val="2A78D6"/>
            </a:solidFill>
            <a:effectLst/>
          </c:spPr>
          <c:invertIfNegative val="0"/>
          <c:dLbls>
            <c:numFmt formatCode="0%" sourceLinked="0"/>
            <c:txPr>
              <a:bodyPr/>
              <a:lstStyle/>
              <a:p>
                <a:pPr>
                  <a:defRPr b="1"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Sheet1!$A$2:$A$16</c:f>
              <c:multiLvlStrCache>
                <c:ptCount val="15"/>
                <c:lvl>
                  <c:pt idx="0">
                    <c:v>Dance</c:v>
                  </c:pt>
                  <c:pt idx="1">
                    <c:v>Theater</c:v>
                  </c:pt>
                  <c:pt idx="2">
                    <c:v>Comics</c:v>
                  </c:pt>
                  <c:pt idx="3">
                    <c:v>Music</c:v>
                  </c:pt>
                  <c:pt idx="4">
                    <c:v>Art</c:v>
                  </c:pt>
                  <c:pt idx="5">
                    <c:v>Games</c:v>
                  </c:pt>
                  <c:pt idx="6">
                    <c:v>Film &amp; Video</c:v>
                  </c:pt>
                  <c:pt idx="7">
                    <c:v>Design</c:v>
                  </c:pt>
                  <c:pt idx="8">
                    <c:v>Publishing</c:v>
                  </c:pt>
                  <c:pt idx="9">
                    <c:v>Photography</c:v>
                  </c:pt>
                  <c:pt idx="10">
                    <c:v>Fashion</c:v>
                  </c:pt>
                  <c:pt idx="11">
                    <c:v>Food</c:v>
                  </c:pt>
                  <c:pt idx="12">
                    <c:v>Crafts</c:v>
                  </c:pt>
                  <c:pt idx="13">
                    <c:v>Technology</c:v>
                  </c:pt>
                  <c:pt idx="14">
                    <c:v>Journalism</c:v>
                  </c:pt>
                </c:lvl>
              </c:multiLvlStrCache>
            </c:multiLvlStrRef>
          </c:cat>
          <c:val>
            <c:numRef>
              <c:f>Sheet1!$B$2:$B$16</c:f>
              <c:numCache>
                <c:formatCode>General</c:formatCode>
                <c:ptCount val="15"/>
                <c:pt idx="0">
                  <c:v>0.663</c:v>
                </c:pt>
                <c:pt idx="1">
                  <c:v>0.637</c:v>
                </c:pt>
                <c:pt idx="2">
                  <c:v>0.591</c:v>
                </c:pt>
                <c:pt idx="3">
                  <c:v>0.528</c:v>
                </c:pt>
                <c:pt idx="4">
                  <c:v>0.449</c:v>
                </c:pt>
                <c:pt idx="5">
                  <c:v>0.436</c:v>
                </c:pt>
                <c:pt idx="6">
                  <c:v>0.418</c:v>
                </c:pt>
                <c:pt idx="7">
                  <c:v>0.418</c:v>
                </c:pt>
                <c:pt idx="8">
                  <c:v>0.347</c:v>
                </c:pt>
                <c:pt idx="9">
                  <c:v>0.341</c:v>
                </c:pt>
                <c:pt idx="10">
                  <c:v>0.284</c:v>
                </c:pt>
                <c:pt idx="11">
                  <c:v>0.277</c:v>
                </c:pt>
                <c:pt idx="12">
                  <c:v>0.269</c:v>
                </c:pt>
                <c:pt idx="13">
                  <c:v>0.238</c:v>
                </c:pt>
                <c:pt idx="14">
                  <c:v>0.236</c:v>
                </c:pt>
              </c:numCache>
            </c:numRef>
          </c:val>
        </c:ser>
        <c:dLbls>
          <c:numFmt formatCode="0%" sourceLinked="0"/>
          <c:txPr>
            <a:bodyPr/>
            <a:lstStyle/>
            <a:p>
              <a:pPr>
                <a:defRPr b="1" i="0" strike="noStrike" sz="1200" u="none">
                  <a:solidFill>
                    <a:srgbClr val="14213D"/>
                  </a:solidFill>
                  <a:latin typeface="+mn-lt"/>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500" b="0" i="0" u="none" strike="noStrike">
                <a:solidFill>
                  <a:srgbClr val="14213D"/>
                </a:solidFill>
                <a:latin typeface="+mn-lt"/>
              </a:defRPr>
            </a:pPr>
            <a:r>
              <a:rPr sz="1500" b="0" i="0" u="none" strike="noStrike">
                <a:solidFill>
                  <a:srgbClr val="14213D"/>
                </a:solidFill>
                <a:latin typeface="+mn-lt"/>
              </a:rPr>
              <a:t>Campaign length</a:t>
            </a:r>
          </a:p>
        </c:rich>
      </c:tx>
      <c:layout/>
      <c:overlay val="0"/>
    </c:title>
    <c:autoTitleDeleted val="0"/>
    <c:plotArea>
      <c:layout/>
      <c:barChart>
        <c:barDir val="bar"/>
        <c:grouping val="clustered"/>
        <c:varyColors val="0"/>
        <c:ser>
          <c:idx val="0"/>
          <c:order val="0"/>
          <c:tx>
            <c:strRef>
              <c:f>Sheet1!$B$1</c:f>
              <c:strCache>
                <c:ptCount val="1"/>
                <c:pt idx="0">
                  <c:v>Campaign length</c:v>
                </c:pt>
              </c:strCache>
            </c:strRef>
          </c:tx>
          <c:spPr>
            <a:solidFill>
              <a:srgbClr val="2A78D6"/>
            </a:solidFill>
            <a:effectLst/>
          </c:spPr>
          <c:invertIfNegative val="0"/>
          <c:dLbls>
            <c:numFmt formatCode="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cat>
            <c:multiLvlStrRef>
              <c:f>Sheet1!$A$2:$A$7</c:f>
              <c:multiLvlStrCache>
                <c:ptCount val="6"/>
                <c:lvl>
                  <c:pt idx="0">
                    <c:v>under 20 days</c:v>
                  </c:pt>
                  <c:pt idx="1">
                    <c:v>20–28 days</c:v>
                  </c:pt>
                  <c:pt idx="2">
                    <c:v>29–31 days</c:v>
                  </c:pt>
                  <c:pt idx="3">
                    <c:v>32–44 days</c:v>
                  </c:pt>
                  <c:pt idx="4">
                    <c:v>45–59 days</c:v>
                  </c:pt>
                  <c:pt idx="5">
                    <c:v>60+ days</c:v>
                  </c:pt>
                </c:lvl>
              </c:multiLvlStrCache>
            </c:multiLvlStrRef>
          </c:cat>
          <c:val>
            <c:numRef>
              <c:f>Sheet1!$B$2:$B$7</c:f>
              <c:numCache>
                <c:formatCode>General</c:formatCode>
                <c:ptCount val="6"/>
                <c:pt idx="0">
                  <c:v>0.525</c:v>
                </c:pt>
                <c:pt idx="1">
                  <c:v>0.536</c:v>
                </c:pt>
                <c:pt idx="2">
                  <c:v>0.376</c:v>
                </c:pt>
                <c:pt idx="3">
                  <c:v>0.488</c:v>
                </c:pt>
                <c:pt idx="4">
                  <c:v>0.352</c:v>
                </c:pt>
                <c:pt idx="5">
                  <c:v>0.247</c:v>
                </c:pt>
              </c:numCache>
            </c:numRef>
          </c:val>
        </c:ser>
        <c:dLbls>
          <c:numFmt formatCode="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500" b="0" i="0" u="none" strike="noStrike">
                <a:solidFill>
                  <a:srgbClr val="14213D"/>
                </a:solidFill>
                <a:latin typeface="+mn-lt"/>
              </a:defRPr>
            </a:pPr>
            <a:r>
              <a:rPr sz="1500" b="0" i="0" u="none" strike="noStrike">
                <a:solidFill>
                  <a:srgbClr val="14213D"/>
                </a:solidFill>
                <a:latin typeface="+mn-lt"/>
              </a:rPr>
              <a:t>Launch year</a:t>
            </a:r>
          </a:p>
        </c:rich>
      </c:tx>
      <c:layout/>
      <c:overlay val="0"/>
    </c:title>
    <c:autoTitleDeleted val="0"/>
    <c:plotArea>
      <c:layout/>
      <c:barChart>
        <c:barDir val="bar"/>
        <c:grouping val="clustered"/>
        <c:varyColors val="0"/>
        <c:ser>
          <c:idx val="0"/>
          <c:order val="0"/>
          <c:tx>
            <c:strRef>
              <c:f>Sheet1!$B$1</c:f>
              <c:strCache>
                <c:ptCount val="1"/>
                <c:pt idx="0">
                  <c:v>Launch year</c:v>
                </c:pt>
              </c:strCache>
            </c:strRef>
          </c:tx>
          <c:spPr>
            <a:solidFill>
              <a:srgbClr val="2A78D6"/>
            </a:solidFill>
            <a:effectLst/>
          </c:spPr>
          <c:invertIfNegative val="0"/>
          <c:dLbls>
            <c:numFmt formatCode="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cat>
            <c:multiLvlStrRef>
              <c:f>Sheet1!$A$2:$A$10</c:f>
              <c:multiLvlStrCache>
                <c:ptCount val="9"/>
                <c:lvl>
                  <c:pt idx="0">
                    <c:v>2009</c:v>
                  </c:pt>
                  <c:pt idx="1">
                    <c:v>2010</c:v>
                  </c:pt>
                  <c:pt idx="2">
                    <c:v>2011</c:v>
                  </c:pt>
                  <c:pt idx="3">
                    <c:v>2012</c:v>
                  </c:pt>
                  <c:pt idx="4">
                    <c:v>2013</c:v>
                  </c:pt>
                  <c:pt idx="5">
                    <c:v>2014</c:v>
                  </c:pt>
                  <c:pt idx="6">
                    <c:v>2015</c:v>
                  </c:pt>
                  <c:pt idx="7">
                    <c:v>2016</c:v>
                  </c:pt>
                  <c:pt idx="8">
                    <c:v>2017</c:v>
                  </c:pt>
                </c:lvl>
              </c:multiLvlStrCache>
            </c:multiLvlStrRef>
          </c:cat>
          <c:val>
            <c:numRef>
              <c:f>Sheet1!$B$2:$B$10</c:f>
              <c:numCache>
                <c:formatCode>General</c:formatCode>
                <c:ptCount val="9"/>
                <c:pt idx="0">
                  <c:v>0.495</c:v>
                </c:pt>
                <c:pt idx="1">
                  <c:v>0.48</c:v>
                </c:pt>
                <c:pt idx="2">
                  <c:v>0.505</c:v>
                </c:pt>
                <c:pt idx="3">
                  <c:v>0.465</c:v>
                </c:pt>
                <c:pt idx="4">
                  <c:v>0.474</c:v>
                </c:pt>
                <c:pt idx="5">
                  <c:v>0.355</c:v>
                </c:pt>
                <c:pt idx="6">
                  <c:v>0.322</c:v>
                </c:pt>
                <c:pt idx="7">
                  <c:v>0.381</c:v>
                </c:pt>
                <c:pt idx="8">
                  <c:v>0.424</c:v>
                </c:pt>
              </c:numCache>
            </c:numRef>
          </c:val>
        </c:ser>
        <c:dLbls>
          <c:numFmt formatCode="0%" sourceLinked="0"/>
          <c:txPr>
            <a:bodyPr/>
            <a:lstStyle/>
            <a:p>
              <a:pPr>
                <a:defRPr b="1" i="0" strike="noStrike" sz="1300" u="none">
                  <a:solidFill>
                    <a:srgbClr val="14213D"/>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0.7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500" b="0" i="0" u="none" strike="noStrike">
                <a:solidFill>
                  <a:srgbClr val="14213D"/>
                </a:solidFill>
                <a:latin typeface="+mn-lt"/>
              </a:defRPr>
            </a:pPr>
            <a:r>
              <a:rPr sz="1500" b="0" i="0" u="none" strike="noStrike">
                <a:solidFill>
                  <a:srgbClr val="14213D"/>
                </a:solidFill>
                <a:latin typeface="+mn-lt"/>
              </a:rPr>
              <a:t>Ranking score (ROC-AUC, higher is better)</a:t>
            </a:r>
          </a:p>
        </c:rich>
      </c:tx>
      <c:layout/>
      <c:overlay val="0"/>
    </c:title>
    <c:autoTitleDeleted val="0"/>
    <c:plotArea>
      <c:layout/>
      <c:barChart>
        <c:barDir val="bar"/>
        <c:grouping val="clustered"/>
        <c:varyColors val="0"/>
        <c:ser>
          <c:idx val="0"/>
          <c:order val="0"/>
          <c:tx>
            <c:strRef>
              <c:f>Sheet1!$B$1</c:f>
              <c:strCache>
                <c:ptCount val="1"/>
                <c:pt idx="0">
                  <c:v>Ranking score (ROC-AUC)</c:v>
                </c:pt>
              </c:strCache>
            </c:strRef>
          </c:tx>
          <c:spPr>
            <a:solidFill>
              <a:srgbClr val="B9B7AF"/>
            </a:solidFill>
            <a:effectLst/>
          </c:spPr>
          <c:invertIfNegative val="0"/>
          <c:dLbls>
            <c:numFmt formatCode="0.0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B9B7AF"/>
              </a:solidFill>
              <a:effectLst/>
            </c:spPr>
          </c:dPt>
          <c:dPt>
            <c:idx val="1"/>
            <c:invertIfNegative val="0"/>
            <c:bubble3D val="0"/>
            <c:spPr>
              <a:solidFill>
                <a:srgbClr val="EB6834"/>
              </a:solidFill>
              <a:effectLst/>
            </c:spPr>
          </c:dPt>
          <c:dPt>
            <c:idx val="2"/>
            <c:invertIfNegative val="0"/>
            <c:bubble3D val="0"/>
            <c:spPr>
              <a:solidFill>
                <a:srgbClr val="2A78D6"/>
              </a:solidFill>
              <a:effectLst/>
            </c:spPr>
          </c:dPt>
          <c:cat>
            <c:multiLvlStrRef>
              <c:f>Sheet1!$A$2:$A$4</c:f>
              <c:multiLvlStrCache>
                <c:ptCount val="3"/>
                <c:lvl>
                  <c:pt idx="0">
                    <c:v>Guessing</c:v>
                  </c:pt>
                  <c:pt idx="1">
                    <c:v>Goal rule</c:v>
                  </c:pt>
                  <c:pt idx="2">
                    <c:v>Our model</c:v>
                  </c:pt>
                </c:lvl>
              </c:multiLvlStrCache>
            </c:multiLvlStrRef>
          </c:cat>
          <c:val>
            <c:numRef>
              <c:f>Sheet1!$B$2:$B$4</c:f>
              <c:numCache>
                <c:formatCode>General</c:formatCode>
                <c:ptCount val="3"/>
                <c:pt idx="0">
                  <c:v>0.5</c:v>
                </c:pt>
                <c:pt idx="1">
                  <c:v>0.63</c:v>
                </c:pt>
                <c:pt idx="2">
                  <c:v>0.77</c:v>
                </c:pt>
              </c:numCache>
            </c:numRef>
          </c:val>
        </c:ser>
        <c:dLbls>
          <c:numFmt formatCode="0.0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Feature importance</c:v>
                </c:pt>
              </c:strCache>
            </c:strRef>
          </c:tx>
          <c:spPr>
            <a:solidFill>
              <a:srgbClr val="2A78D6"/>
            </a:solidFill>
            <a:effectLst/>
          </c:spPr>
          <c:invertIfNegative val="0"/>
          <c:dLbls>
            <c:numFmt formatCode="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Sub-category</c:v>
                  </c:pt>
                  <c:pt idx="1">
                    <c:v>Funding goal</c:v>
                  </c:pt>
                  <c:pt idx="2">
                    <c:v>Launch year</c:v>
                  </c:pt>
                  <c:pt idx="3">
                    <c:v>Campaign length</c:v>
                  </c:pt>
                  <c:pt idx="4">
                    <c:v>Launch hour</c:v>
                  </c:pt>
                  <c:pt idx="5">
                    <c:v>Title length</c:v>
                  </c:pt>
                  <c:pt idx="6">
                    <c:v>Country</c:v>
                  </c:pt>
                </c:lvl>
              </c:multiLvlStrCache>
            </c:multiLvlStrRef>
          </c:cat>
          <c:val>
            <c:numRef>
              <c:f>Sheet1!$B$2:$B$8</c:f>
              <c:numCache>
                <c:formatCode>General</c:formatCode>
                <c:ptCount val="7"/>
                <c:pt idx="0">
                  <c:v>100</c:v>
                </c:pt>
                <c:pt idx="1">
                  <c:v>83</c:v>
                </c:pt>
                <c:pt idx="2">
                  <c:v>31</c:v>
                </c:pt>
                <c:pt idx="3">
                  <c:v>27</c:v>
                </c:pt>
                <c:pt idx="4">
                  <c:v>10</c:v>
                </c:pt>
                <c:pt idx="5">
                  <c:v>9</c:v>
                </c:pt>
                <c:pt idx="6">
                  <c:v>6</c:v>
                </c:pt>
              </c:numCache>
            </c:numRef>
          </c:val>
        </c:ser>
        <c:dLbls>
          <c:numFmt formatCode="0" sourceLinked="0"/>
          <c:txPr>
            <a:bodyPr/>
            <a:lstStyle/>
            <a:p>
              <a:pPr>
                <a:defRPr b="1" i="0" strike="noStrike" sz="15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answer one question that every Kickstarter creator asks before launch: will my campaign get funded? We studied 331,675 finished campaigns and built a model that estimates the chance of success using only what a creator knows before launch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Kickstarter is all or nothing. If you miss your goal, even by one dollar, you get nothing. And most campaigns do miss: 6 out of 10 finished campaigns failed. Creators make their key decisions, like how much money to ask for and how long to run, before launch and without data. That is the gap we want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is simple: before launch, how likely is a campaign to succeed? We used 331,675 campaigns that finished as either successful or failed. The model gets the campaign plan as input: the goal, the category, the country, how long it runs, when it starts and the title. It returns a chance of success between 0 and 100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and strongest finding: the size of the goal. Campaigns asking for less than one thousand dollars succeed 55 percent of the time. Above fifty thousand dollars, only 15 percent succeed. In every category, successful projects asked for less than failed ones, typically half to two thirds as much. The goal is the biggest lever a creator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finding: the category matters a lot. Dance, theater and comics projects succeed about two times out of three. Technology and journalism succeed only about one time in four. One reason: tech projects ask for much more money. The typical successful tech project asked for ten thousand dollars, a failed one twenty thousand. Arts projects often have a loyal community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finding: timing. Half of all campaigns simply keep the 30-day default, and only 38 percent of those succeed. Campaigns under four weeks and of 32 to 44 days do clearly better, and campaigns of 60 days or more do worst, with only one in four succeeding. This is probably about who chooses: creators who plan carefully also pick the length on purpose. It is a pattern, not proof of cause. Also, the year matters: in 2014 the number of campaigns jumped by 44 percent and success rates fell, probably because there was more competition and less selection. Since 2015 success rates have been recovering.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 step was spotting target leakage. The data also contains the money pledged and the number of backers. Those numbers already contain the answer: the rule “pledged at least the goal” matches the outcome in 99.997 percent of cases. But a creator does not know them before launch. A model that used them would look perfect in testing and be useless in real life, so we removed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process in five steps. First we cleaned the data and removed the future information. Second, we locked away 20 percent of the campaigns as a test set, like a final exam the model never sees while learning. Third, we set a simple rule as the score to beat. Fourth, we compared three different kinds of models using cross-validation, which means we split the training data into five parts, train on four and check on the fifth, five times. Fifth, we tuned the best model and took the final exam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good is the model? We tested it once, on 66,335 campaigns it had never seen. Our main score is called ROC-AUC. In simple words: if you show the model one successful and one failed campaign, how often does it give the successful one the higher chance? Guessing gets 0.5. The simple goal rule gets 0.63. Our model gets 0.77, so about three out of four pairs are ranked correctly. In practice: of the ten percent of campaigns the model rates most promising, 77 percent really succeeded. Of the ten percent it rates most risky, only 5 percent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model gets right and wrong. It finds 83 percent of the campaigns that really succeeded. The price is false hope: about 45 percent of its “likely success” calls end up failing, because many failed campaigns look exactly like successful ones on paper. The good news: its percentages are honest. When it says 60 percent, about 60 out of 100 such campaigns really succeed. Its biggest mistakes are tiny board game campaigns that failed and huge technology or food campaigns that succeeded. What explains them, like product quality or an existing fan base, is not in 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information does the model use most? We tested this by scrambling one piece of information at a time and measuring how much worse the model gets. The sub-category, for example board games or indie rock, and the funding goal are by far the most important. The launch year and the campaign length follow. Details like the title length, the launch hour or the country matter only a little.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creators? Three decisions to make before launch. One: ask for less. Set the lowest goal that really funds the project and use stretch goals for the extras. Two: plan the length on purpose. Campaigns that kept the 30-day default did worse than most others, and 60-day campaigns did worst. Three: know your category. In hard categories like technology, food or fashion, build an audience before you launch. Remember, these are patterns from past campaigns, not guarantees.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product idea is the Campaign Checker. A creator enters the campaign plan and gets an honest probability of success. Then they can compare: how did similar campaigns with a lower goal or a different length do? The table shows the model's estimates for a US board game. At five thousand dollars and 21 days, 93 percent. At fifty thousand dollars and 60 days, only 27 percent. Kickstarter itself could also use it, for example to coach creators before launch. One caveat: these are patterns from the past, not promises.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has limits. Ours finds patterns, not causes. It cannot see the product, the video, the rewards or the creator's fan base, which explains many of its mistakes. The data ends in early 2018, so the platform may have changed. And almost half of its “likely success” calls still fail. Next, we would add richer data like the creator's history and the campaign description, test the model on the newest campaigns, refresh the data, and build the Campaign Checker as a web tool while tracking its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In one sentence: ask for less, plan your campaign length, know your category, and check your odds before you launch.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11094415" cy="411480"/>
          </a:xfrm>
          <a:prstGeom prst="rect">
            <a:avLst/>
          </a:prstGeom>
          <a:noFill/>
          <a:ln/>
        </p:spPr>
        <p:txBody>
          <a:bodyPr wrap="square" rtlCol="0"/>
          <a:lstStyle>
            <a:lvl1pPr indent="0" marL="0">
              <a:buNone/>
              <a:defRPr lang="en-US" sz="1400" b="1" spc="3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548640" y="2011680"/>
            <a:ext cx="9601200" cy="18288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3977640"/>
            <a:ext cx="9144000" cy="914400"/>
          </a:xfrm>
          <a:prstGeom prst="rect">
            <a:avLst/>
          </a:prstGeom>
          <a:noFill/>
          <a:ln/>
        </p:spPr>
        <p:txBody>
          <a:bodyPr wrap="square" rtlCol="0"/>
          <a:lstStyle>
            <a:lvl1pPr indent="0" marL="0">
              <a:buNone/>
              <a:defRPr lang="en-US" sz="2200" dirty="0">
                <a:solidFill>
                  <a:srgbClr val="C8D0DD"/>
                </a:solidFill>
              </a:defRPr>
            </a:lvl1pPr>
          </a:lstStyle>
          <a:p>
            <a:pPr indent="0" marL="0">
              <a:buNone/>
            </a:pPr>
            <a:endParaRPr lang="en-US" sz="2200" dirty="0"/>
          </a:p>
        </p:txBody>
      </p:sp>
      <p:sp>
        <p:nvSpPr>
          <p:cNvPr id="5" name="Text 0"/>
          <p:cNvSpPr/>
          <p:nvPr>
            <p:ph idx="103" type="body" hasCustomPrompt="1"/>
          </p:nvPr>
        </p:nvSpPr>
        <p:spPr>
          <a:xfrm>
            <a:off x="548640" y="6172200"/>
            <a:ext cx="11094415" cy="320040"/>
          </a:xfrm>
          <a:prstGeom prst="rect">
            <a:avLst/>
          </a:prstGeom>
          <a:noFill/>
          <a:ln/>
        </p:spPr>
        <p:txBody>
          <a:bodyPr wrap="square" rtlCol="0"/>
          <a:lstStyle>
            <a:lvl1pPr indent="0" marL="0">
              <a:buNone/>
              <a:defRPr lang="en-US" sz="1200" dirty="0">
                <a:solidFill>
                  <a:srgbClr val="C8D0DD"/>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4415"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6263640"/>
            <a:ext cx="10362895" cy="274320"/>
          </a:xfrm>
          <a:prstGeom prst="rect">
            <a:avLst/>
          </a:prstGeom>
          <a:noFill/>
          <a:ln/>
        </p:spPr>
        <p:txBody>
          <a:bodyPr wrap="square" rtlCol="0"/>
          <a:lstStyle>
            <a:lvl1pPr indent="0" marL="0">
              <a:buNone/>
              <a:defRPr lang="en-US" sz="1100" dirty="0">
                <a:solidFill>
                  <a:srgbClr val="5B6472"/>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4415" cy="320040"/>
          </a:xfrm>
          <a:prstGeom prst="rect">
            <a:avLst/>
          </a:prstGeom>
          <a:noFill/>
          <a:ln/>
        </p:spPr>
        <p:txBody>
          <a:bodyPr wrap="square" rtlCol="0"/>
          <a:lstStyle>
            <a:lvl1pPr indent="0" marL="0">
              <a:buNone/>
              <a:defRPr lang="en-US" sz="1200" b="1" spc="2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6263640"/>
            <a:ext cx="10362895" cy="274320"/>
          </a:xfrm>
          <a:prstGeom prst="rect">
            <a:avLst/>
          </a:prstGeom>
          <a:noFill/>
          <a:ln/>
        </p:spPr>
        <p:txBody>
          <a:bodyPr wrap="square" rtlCol="0"/>
          <a:lstStyle>
            <a:lvl1pPr indent="0" marL="0">
              <a:buNone/>
              <a:defRPr lang="en-US" sz="1100" dirty="0">
                <a:solidFill>
                  <a:srgbClr val="C8D0DD"/>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D0D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ACCENT">
    <p:bg>
      <p:bgPr>
        <a:solidFill>
          <a:srgbClr val="1C5CA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1094415" cy="320040"/>
          </a:xfrm>
          <a:prstGeom prst="rect">
            <a:avLst/>
          </a:prstGeom>
          <a:noFill/>
          <a:ln/>
        </p:spPr>
        <p:txBody>
          <a:bodyPr wrap="square" rtlCol="0"/>
          <a:lstStyle>
            <a:lvl1pPr indent="0" marL="0">
              <a:buNone/>
              <a:defRPr lang="en-US" sz="1200" b="1" spc="200" kern="0" dirty="0">
                <a:solidFill>
                  <a:srgbClr val="CDE2FB"/>
                </a:solidFill>
              </a:defRPr>
            </a:lvl1pPr>
          </a:lstStyle>
          <a:p>
            <a:pPr indent="0" marL="0">
              <a:buNone/>
            </a:pPr>
            <a:endParaRPr lang="en-US" sz="1200" dirty="0"/>
          </a:p>
        </p:txBody>
      </p:sp>
      <p:sp>
        <p:nvSpPr>
          <p:cNvPr id="3" name="Text 0"/>
          <p:cNvSpPr/>
          <p:nvPr>
            <p:ph idx="101" type="title" hasCustomPrompt="1"/>
          </p:nvPr>
        </p:nvSpPr>
        <p:spPr>
          <a:xfrm>
            <a:off x="548640" y="685800"/>
            <a:ext cx="11094415"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6263640"/>
            <a:ext cx="10362895" cy="274320"/>
          </a:xfrm>
          <a:prstGeom prst="rect">
            <a:avLst/>
          </a:prstGeom>
          <a:noFill/>
          <a:ln/>
        </p:spPr>
        <p:txBody>
          <a:bodyPr wrap="square" rtlCol="0"/>
          <a:lstStyle>
            <a:lvl1pPr indent="0" marL="0">
              <a:buNone/>
              <a:defRPr lang="en-US" sz="1100" dirty="0">
                <a:solidFill>
                  <a:srgbClr val="DCE7F7"/>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CE7F7"/>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548640" y="1554480"/>
            <a:ext cx="11094415" cy="411480"/>
          </a:xfrm>
          <a:prstGeom prst="rect">
            <a:avLst/>
          </a:prstGeom>
          <a:noFill/>
          <a:ln/>
        </p:spPr>
        <p:txBody>
          <a:bodyPr wrap="square" lIns="0" tIns="0" rIns="0" bIns="0" rtlCol="0"/>
          <a:lstStyle/>
          <a:p>
            <a:pPr indent="0" marL="0">
              <a:buNone/>
            </a:pPr>
            <a:r>
              <a:rPr lang="en-US" sz="1400" b="1" spc="300" kern="0" dirty="0">
                <a:solidFill>
                  <a:schemeClr val="accent5"/>
                </a:solidFill>
              </a:rPr>
              <a:t>MACHINE LEARNING PROJECT · KICKSTARTER</a:t>
            </a:r>
            <a:endParaRPr lang="en-US" sz="1400" dirty="0"/>
          </a:p>
        </p:txBody>
      </p:sp>
      <p:sp>
        <p:nvSpPr>
          <p:cNvPr id="4" name="Text 0"/>
          <p:cNvSpPr/>
          <p:nvPr>
            <p:ph idx="101" type="title" hasCustomPrompt="1"/>
          </p:nvPr>
        </p:nvSpPr>
        <p:spPr>
          <a:xfrm>
            <a:off x="548640" y="2011680"/>
            <a:ext cx="9601200" cy="1828800"/>
          </a:xfrm>
          <a:prstGeom prst="rect">
            <a:avLst/>
          </a:prstGeom>
          <a:noFill/>
          <a:ln/>
        </p:spPr>
        <p:txBody>
          <a:bodyPr wrap="square" lIns="0" tIns="0" rIns="0" bIns="0" rtlCol="0" anchor="t"/>
          <a:lstStyle/>
          <a:p>
            <a:pPr algn="l" indent="0" marL="0">
              <a:buNone/>
            </a:pPr>
            <a:r>
              <a:rPr lang="en-US" sz="5400" b="1" dirty="0">
                <a:solidFill>
                  <a:schemeClr val="bg1"/>
                </a:solidFill>
              </a:rPr>
              <a:t>Will my campaign get funded?</a:t>
            </a:r>
            <a:endParaRPr lang="en-US" sz="5400" dirty="0"/>
          </a:p>
        </p:txBody>
      </p:sp>
      <p:sp>
        <p:nvSpPr>
          <p:cNvPr id="5" name="Text 0"/>
          <p:cNvSpPr/>
          <p:nvPr>
            <p:ph idx="102" type="body" hasCustomPrompt="1"/>
          </p:nvPr>
        </p:nvSpPr>
        <p:spPr>
          <a:xfrm>
            <a:off x="548640" y="3977640"/>
            <a:ext cx="9144000" cy="914400"/>
          </a:xfrm>
          <a:prstGeom prst="rect">
            <a:avLst/>
          </a:prstGeom>
          <a:noFill/>
          <a:ln/>
        </p:spPr>
        <p:txBody>
          <a:bodyPr wrap="square" lIns="0" tIns="0" rIns="0" bIns="0" rtlCol="0" anchor="t"/>
          <a:lstStyle/>
          <a:p>
            <a:pPr indent="0" marL="0">
              <a:buNone/>
            </a:pPr>
            <a:r>
              <a:rPr lang="en-US" sz="2200" dirty="0">
                <a:solidFill>
                  <a:srgbClr val="C8D0DD"/>
                </a:solidFill>
              </a:rPr>
              <a:t>Predicting Kickstarter success before launch, from 331,675 past campaigns</a:t>
            </a:r>
            <a:endParaRPr lang="en-US" sz="2200" dirty="0"/>
          </a:p>
        </p:txBody>
      </p:sp>
      <p:sp>
        <p:nvSpPr>
          <p:cNvPr id="6" name="Text 0"/>
          <p:cNvSpPr/>
          <p:nvPr>
            <p:ph idx="103" type="body" hasCustomPrompt="1"/>
          </p:nvPr>
        </p:nvSpPr>
        <p:spPr>
          <a:xfrm>
            <a:off x="548640" y="6172200"/>
            <a:ext cx="11094415" cy="320040"/>
          </a:xfrm>
          <a:prstGeom prst="rect">
            <a:avLst/>
          </a:prstGeom>
          <a:noFill/>
          <a:ln/>
        </p:spPr>
        <p:txBody>
          <a:bodyPr wrap="square" lIns="0" tIns="0" rIns="0" bIns="0" rtlCol="0"/>
          <a:lstStyle/>
          <a:p>
            <a:pPr indent="0" marL="0">
              <a:buNone/>
            </a:pPr>
            <a:r>
              <a:rPr lang="en-US" sz="1200" dirty="0">
                <a:solidFill>
                  <a:srgbClr val="C8D0DD"/>
                </a:solidFill>
              </a:rPr>
              <a:t>[Team names] · Data Science Bootcamp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THE PROBLEM</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All or nothing: most campaigns fail</a:t>
            </a:r>
            <a:endParaRPr lang="en-US" sz="3400" dirty="0"/>
          </a:p>
        </p:txBody>
      </p:sp>
      <p:sp>
        <p:nvSpPr>
          <p:cNvPr id="5" name="Text 2"/>
          <p:cNvSpPr txBox="1"/>
          <p:nvPr/>
        </p:nvSpPr>
        <p:spPr>
          <a:xfrm>
            <a:off x="548640" y="1920240"/>
            <a:ext cx="4754880" cy="1737360"/>
          </a:xfrm>
          <a:prstGeom prst="rect">
            <a:avLst/>
          </a:prstGeom>
          <a:noFill/>
          <a:ln/>
        </p:spPr>
        <p:txBody>
          <a:bodyPr wrap="square" lIns="0" tIns="0" rIns="0" bIns="0" rtlCol="0" anchor="t"/>
          <a:lstStyle/>
          <a:p>
            <a:pPr indent="0" marL="0">
              <a:buNone/>
            </a:pPr>
            <a:r>
              <a:rPr lang="en-US" sz="13000" b="1" dirty="0">
                <a:solidFill>
                  <a:schemeClr val="accent4"/>
                </a:solidFill>
                <a:latin typeface="Arial" pitchFamily="34" charset="0"/>
                <a:ea typeface="Arial" pitchFamily="34" charset="-122"/>
                <a:cs typeface="Arial" pitchFamily="34" charset="-120"/>
              </a:rPr>
              <a:t>60%</a:t>
            </a:r>
            <a:endParaRPr lang="en-US" sz="13000" dirty="0"/>
          </a:p>
        </p:txBody>
      </p:sp>
      <p:sp>
        <p:nvSpPr>
          <p:cNvPr id="6" name="Text 3"/>
          <p:cNvSpPr txBox="1"/>
          <p:nvPr/>
        </p:nvSpPr>
        <p:spPr>
          <a:xfrm>
            <a:off x="548640" y="3703320"/>
            <a:ext cx="4754880" cy="822960"/>
          </a:xfrm>
          <a:prstGeom prst="rect">
            <a:avLst/>
          </a:prstGeom>
          <a:noFill/>
          <a:ln/>
        </p:spPr>
        <p:txBody>
          <a:bodyPr wrap="square" lIns="0" tIns="0" rIns="0" bIns="0" rtlCol="0" anchor="t"/>
          <a:lstStyle/>
          <a:p>
            <a:pPr indent="0" marL="0">
              <a:buNone/>
            </a:pPr>
            <a:r>
              <a:rPr lang="en-US" sz="2400" dirty="0">
                <a:solidFill>
                  <a:schemeClr val="tx1"/>
                </a:solidFill>
                <a:latin typeface="Calibri" pitchFamily="34" charset="0"/>
                <a:ea typeface="Calibri" pitchFamily="34" charset="-122"/>
                <a:cs typeface="Calibri" pitchFamily="34" charset="-120"/>
              </a:rPr>
              <a:t>of finished Kickstarter campaigns </a:t>
            </a:r>
            <a:pPr indent="0" marL="0">
              <a:buNone/>
            </a:pPr>
            <a:r>
              <a:rPr lang="en-US" sz="2400" b="1" dirty="0">
                <a:solidFill>
                  <a:schemeClr val="tx1"/>
                </a:solidFill>
                <a:latin typeface="Calibri" pitchFamily="34" charset="0"/>
                <a:ea typeface="Calibri" pitchFamily="34" charset="-122"/>
                <a:cs typeface="Calibri" pitchFamily="34" charset="-120"/>
              </a:rPr>
              <a:t>fail</a:t>
            </a:r>
            <a:endParaRPr lang="en-US" sz="2400" dirty="0"/>
          </a:p>
        </p:txBody>
      </p:sp>
      <p:sp>
        <p:nvSpPr>
          <p:cNvPr id="7" name="Card: no payout"/>
          <p:cNvSpPr/>
          <p:nvPr/>
        </p:nvSpPr>
        <p:spPr>
          <a:xfrm>
            <a:off x="5943600" y="1783080"/>
            <a:ext cx="5699455" cy="1737360"/>
          </a:xfrm>
          <a:prstGeom prst="roundRect">
            <a:avLst>
              <a:gd name="adj" fmla="val 6316"/>
            </a:avLst>
          </a:prstGeom>
          <a:solidFill>
            <a:srgbClr val="F2F4F8"/>
          </a:solidFill>
          <a:ln w="12700">
            <a:solidFill>
              <a:srgbClr val="F2F4F8"/>
            </a:solidFill>
            <a:prstDash val="solid"/>
          </a:ln>
        </p:spPr>
      </p:sp>
      <p:sp>
        <p:nvSpPr>
          <p:cNvPr id="8" name="Text 5"/>
          <p:cNvSpPr txBox="1"/>
          <p:nvPr/>
        </p:nvSpPr>
        <p:spPr>
          <a:xfrm>
            <a:off x="6263640" y="2011680"/>
            <a:ext cx="5059375"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Miss the goal by $1 → receive $0</a:t>
            </a:r>
            <a:endParaRPr lang="en-US" sz="2000" dirty="0"/>
          </a:p>
        </p:txBody>
      </p:sp>
      <p:sp>
        <p:nvSpPr>
          <p:cNvPr id="9" name="Text 6"/>
          <p:cNvSpPr txBox="1"/>
          <p:nvPr/>
        </p:nvSpPr>
        <p:spPr>
          <a:xfrm>
            <a:off x="6263640" y="2468880"/>
            <a:ext cx="5059375" cy="9144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Kickstarter only pays out if the funding goal is reached. A failed campaign costs the creator weeks of work.</a:t>
            </a:r>
            <a:endParaRPr lang="en-US" sz="1600" dirty="0"/>
          </a:p>
        </p:txBody>
      </p:sp>
      <p:sp>
        <p:nvSpPr>
          <p:cNvPr id="10" name="Card: deciding blind"/>
          <p:cNvSpPr/>
          <p:nvPr/>
        </p:nvSpPr>
        <p:spPr>
          <a:xfrm>
            <a:off x="5943600" y="3749040"/>
            <a:ext cx="5699455" cy="1737360"/>
          </a:xfrm>
          <a:prstGeom prst="roundRect">
            <a:avLst>
              <a:gd name="adj" fmla="val 6316"/>
            </a:avLst>
          </a:prstGeom>
          <a:solidFill>
            <a:srgbClr val="F2F4F8"/>
          </a:solidFill>
          <a:ln w="12700">
            <a:solidFill>
              <a:srgbClr val="F2F4F8"/>
            </a:solidFill>
            <a:prstDash val="solid"/>
          </a:ln>
        </p:spPr>
      </p:sp>
      <p:sp>
        <p:nvSpPr>
          <p:cNvPr id="11" name="Text 8"/>
          <p:cNvSpPr txBox="1"/>
          <p:nvPr/>
        </p:nvSpPr>
        <p:spPr>
          <a:xfrm>
            <a:off x="6263640" y="3977640"/>
            <a:ext cx="5059375" cy="41148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Creators decide blind</a:t>
            </a:r>
            <a:endParaRPr lang="en-US" sz="2000" dirty="0"/>
          </a:p>
        </p:txBody>
      </p:sp>
      <p:sp>
        <p:nvSpPr>
          <p:cNvPr id="12" name="Text 9"/>
          <p:cNvSpPr txBox="1"/>
          <p:nvPr/>
        </p:nvSpPr>
        <p:spPr>
          <a:xfrm>
            <a:off x="6263640" y="4434840"/>
            <a:ext cx="5059375" cy="9144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Goal, category, length and launch date are fixed before launch, with no data on how they affect the odds.</a:t>
            </a:r>
            <a:endParaRPr lang="en-US" sz="1600" dirty="0"/>
          </a:p>
        </p:txBody>
      </p:sp>
      <p:sp>
        <p:nvSpPr>
          <p:cNvPr id="13"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Source: Kickstarter Projects dataset (Kaggle), 331,675 finished campaigns 2009–2018</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OUR QUESTION</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How likely is a campaign to succeed?</a:t>
            </a:r>
            <a:endParaRPr lang="en-US" sz="3400" dirty="0"/>
          </a:p>
        </p:txBody>
      </p:sp>
      <p:sp>
        <p:nvSpPr>
          <p:cNvPr id="5" name="Text 2"/>
          <p:cNvSpPr txBox="1"/>
          <p:nvPr/>
        </p:nvSpPr>
        <p:spPr>
          <a:xfrm>
            <a:off x="548640" y="1600200"/>
            <a:ext cx="11094415" cy="548640"/>
          </a:xfrm>
          <a:prstGeom prst="rect">
            <a:avLst/>
          </a:prstGeom>
          <a:noFill/>
          <a:ln/>
        </p:spPr>
        <p:txBody>
          <a:bodyPr wrap="square" lIns="0" tIns="0" rIns="0" bIns="0" rtlCol="0" anchor="ctr"/>
          <a:lstStyle/>
          <a:p>
            <a:pPr indent="0" marL="0">
              <a:buNone/>
            </a:pPr>
            <a:r>
              <a:rPr lang="en-US" sz="2200" dirty="0">
                <a:solidFill>
                  <a:schemeClr val="tx1"/>
                </a:solidFill>
                <a:latin typeface="Calibri" pitchFamily="34" charset="0"/>
                <a:ea typeface="Calibri" pitchFamily="34" charset="-122"/>
                <a:cs typeface="Calibri" pitchFamily="34" charset="-120"/>
              </a:rPr>
              <a:t>Using only what a creator knows </a:t>
            </a:r>
            <a:pPr indent="0" marL="0">
              <a:buNone/>
            </a:pPr>
            <a:r>
              <a:rPr lang="en-US" sz="2200" b="1" dirty="0">
                <a:solidFill>
                  <a:schemeClr val="tx1"/>
                </a:solidFill>
                <a:latin typeface="Calibri" pitchFamily="34" charset="0"/>
                <a:ea typeface="Calibri" pitchFamily="34" charset="-122"/>
                <a:cs typeface="Calibri" pitchFamily="34" charset="-120"/>
              </a:rPr>
              <a:t>before launch</a:t>
            </a:r>
            <a:pPr indent="0" marL="0">
              <a:buNone/>
            </a:pPr>
            <a:r>
              <a:rPr lang="en-US" sz="2200" dirty="0">
                <a:solidFill>
                  <a:schemeClr val="tx1"/>
                </a:solidFill>
                <a:latin typeface="Calibri" pitchFamily="34" charset="0"/>
                <a:ea typeface="Calibri" pitchFamily="34" charset="-122"/>
                <a:cs typeface="Calibri" pitchFamily="34" charset="-120"/>
              </a:rPr>
              <a:t>, we estimate the chance of success.</a:t>
            </a:r>
            <a:endParaRPr lang="en-US" sz="2200" dirty="0"/>
          </a:p>
        </p:txBody>
      </p:sp>
      <p:sp>
        <p:nvSpPr>
          <p:cNvPr id="6" name="Card: data"/>
          <p:cNvSpPr/>
          <p:nvPr/>
        </p:nvSpPr>
        <p:spPr>
          <a:xfrm>
            <a:off x="548640" y="2514600"/>
            <a:ext cx="3484778" cy="2651760"/>
          </a:xfrm>
          <a:prstGeom prst="roundRect">
            <a:avLst>
              <a:gd name="adj" fmla="val 4138"/>
            </a:avLst>
          </a:prstGeom>
          <a:solidFill>
            <a:srgbClr val="F2F4F8"/>
          </a:solidFill>
          <a:ln w="12700">
            <a:solidFill>
              <a:srgbClr val="F2F4F8"/>
            </a:solidFill>
            <a:prstDash val="solid"/>
          </a:ln>
        </p:spPr>
      </p:sp>
      <p:sp>
        <p:nvSpPr>
          <p:cNvPr id="7" name="Step 1"/>
          <p:cNvSpPr/>
          <p:nvPr/>
        </p:nvSpPr>
        <p:spPr>
          <a:xfrm>
            <a:off x="868680" y="2788920"/>
            <a:ext cx="548640" cy="548640"/>
          </a:xfrm>
          <a:prstGeom prst="ellipse">
            <a:avLst/>
          </a:prstGeom>
          <a:solidFill>
            <a:srgbClr val="2A78D6"/>
          </a:solidFill>
          <a:ln w="12700">
            <a:solidFill>
              <a:srgbClr val="2A78D6"/>
            </a:solidFill>
            <a:prstDash val="solid"/>
          </a:ln>
        </p:spPr>
      </p:sp>
      <p:sp>
        <p:nvSpPr>
          <p:cNvPr id="8" name="Text 5"/>
          <p:cNvSpPr txBox="1"/>
          <p:nvPr/>
        </p:nvSpPr>
        <p:spPr>
          <a:xfrm>
            <a:off x="868680" y="2788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554480" y="2880360"/>
            <a:ext cx="2204618" cy="365760"/>
          </a:xfrm>
          <a:prstGeom prst="rect">
            <a:avLst/>
          </a:prstGeom>
          <a:noFill/>
          <a:ln/>
        </p:spPr>
        <p:txBody>
          <a:bodyPr wrap="square" lIns="0" tIns="0" rIns="0" bIns="0" rtlCol="0" anchor="ctr"/>
          <a:lstStyle/>
          <a:p>
            <a:pPr indent="0" marL="0">
              <a:buNone/>
            </a:pPr>
            <a:r>
              <a:rPr lang="en-US" sz="1300" b="1" spc="200" kern="0" dirty="0">
                <a:solidFill>
                  <a:schemeClr val="accent3"/>
                </a:solidFill>
                <a:latin typeface="Calibri" pitchFamily="34" charset="0"/>
                <a:ea typeface="Calibri" pitchFamily="34" charset="-122"/>
                <a:cs typeface="Calibri" pitchFamily="34" charset="-120"/>
              </a:rPr>
              <a:t>DATA</a:t>
            </a:r>
            <a:endParaRPr lang="en-US" sz="1300" dirty="0"/>
          </a:p>
        </p:txBody>
      </p:sp>
      <p:sp>
        <p:nvSpPr>
          <p:cNvPr id="10" name="Text 7"/>
          <p:cNvSpPr txBox="1"/>
          <p:nvPr/>
        </p:nvSpPr>
        <p:spPr>
          <a:xfrm>
            <a:off x="868680" y="3611880"/>
            <a:ext cx="2844698"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331,675 campaigns</a:t>
            </a:r>
            <a:endParaRPr lang="en-US" sz="2200" dirty="0"/>
          </a:p>
        </p:txBody>
      </p:sp>
      <p:sp>
        <p:nvSpPr>
          <p:cNvPr id="11" name="Text 8"/>
          <p:cNvSpPr txBox="1"/>
          <p:nvPr/>
        </p:nvSpPr>
        <p:spPr>
          <a:xfrm>
            <a:off x="868680" y="4114800"/>
            <a:ext cx="2844698" cy="8686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Finished between 2009 and 2018, in 15 categories and 22 countries</a:t>
            </a:r>
            <a:endParaRPr lang="en-US" sz="1600" dirty="0"/>
          </a:p>
        </p:txBody>
      </p:sp>
      <p:sp>
        <p:nvSpPr>
          <p:cNvPr id="12" name="Card: input"/>
          <p:cNvSpPr/>
          <p:nvPr/>
        </p:nvSpPr>
        <p:spPr>
          <a:xfrm>
            <a:off x="4353458" y="2514600"/>
            <a:ext cx="3484778" cy="2651760"/>
          </a:xfrm>
          <a:prstGeom prst="roundRect">
            <a:avLst>
              <a:gd name="adj" fmla="val 4138"/>
            </a:avLst>
          </a:prstGeom>
          <a:solidFill>
            <a:srgbClr val="F2F4F8"/>
          </a:solidFill>
          <a:ln w="12700">
            <a:solidFill>
              <a:srgbClr val="F2F4F8"/>
            </a:solidFill>
            <a:prstDash val="solid"/>
          </a:ln>
        </p:spPr>
      </p:sp>
      <p:sp>
        <p:nvSpPr>
          <p:cNvPr id="13" name="Step 2"/>
          <p:cNvSpPr/>
          <p:nvPr/>
        </p:nvSpPr>
        <p:spPr>
          <a:xfrm>
            <a:off x="4673498" y="2788920"/>
            <a:ext cx="548640" cy="548640"/>
          </a:xfrm>
          <a:prstGeom prst="ellipse">
            <a:avLst/>
          </a:prstGeom>
          <a:solidFill>
            <a:srgbClr val="2A78D6"/>
          </a:solidFill>
          <a:ln w="12700">
            <a:solidFill>
              <a:srgbClr val="2A78D6"/>
            </a:solidFill>
            <a:prstDash val="solid"/>
          </a:ln>
        </p:spPr>
      </p:sp>
      <p:sp>
        <p:nvSpPr>
          <p:cNvPr id="14" name="Text 11"/>
          <p:cNvSpPr txBox="1"/>
          <p:nvPr/>
        </p:nvSpPr>
        <p:spPr>
          <a:xfrm>
            <a:off x="4673498" y="2788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5" name="Text 12"/>
          <p:cNvSpPr txBox="1"/>
          <p:nvPr/>
        </p:nvSpPr>
        <p:spPr>
          <a:xfrm>
            <a:off x="5359298" y="2880360"/>
            <a:ext cx="2204618" cy="365760"/>
          </a:xfrm>
          <a:prstGeom prst="rect">
            <a:avLst/>
          </a:prstGeom>
          <a:noFill/>
          <a:ln/>
        </p:spPr>
        <p:txBody>
          <a:bodyPr wrap="square" lIns="0" tIns="0" rIns="0" bIns="0" rtlCol="0" anchor="ctr"/>
          <a:lstStyle/>
          <a:p>
            <a:pPr indent="0" marL="0">
              <a:buNone/>
            </a:pPr>
            <a:r>
              <a:rPr lang="en-US" sz="1300" b="1" spc="200" kern="0" dirty="0">
                <a:solidFill>
                  <a:schemeClr val="accent3"/>
                </a:solidFill>
                <a:latin typeface="Calibri" pitchFamily="34" charset="0"/>
                <a:ea typeface="Calibri" pitchFamily="34" charset="-122"/>
                <a:cs typeface="Calibri" pitchFamily="34" charset="-120"/>
              </a:rPr>
              <a:t>INPUT</a:t>
            </a:r>
            <a:endParaRPr lang="en-US" sz="1300" dirty="0"/>
          </a:p>
        </p:txBody>
      </p:sp>
      <p:sp>
        <p:nvSpPr>
          <p:cNvPr id="16" name="Text 13"/>
          <p:cNvSpPr txBox="1"/>
          <p:nvPr/>
        </p:nvSpPr>
        <p:spPr>
          <a:xfrm>
            <a:off x="4673498" y="3611880"/>
            <a:ext cx="2844698"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The campaign plan</a:t>
            </a:r>
            <a:endParaRPr lang="en-US" sz="2200" dirty="0"/>
          </a:p>
        </p:txBody>
      </p:sp>
      <p:sp>
        <p:nvSpPr>
          <p:cNvPr id="17" name="Text 14"/>
          <p:cNvSpPr txBox="1"/>
          <p:nvPr/>
        </p:nvSpPr>
        <p:spPr>
          <a:xfrm>
            <a:off x="4673498" y="4114800"/>
            <a:ext cx="2844698" cy="8686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Goal, category, country, length, launch date and the title</a:t>
            </a:r>
            <a:endParaRPr lang="en-US" sz="1600" dirty="0"/>
          </a:p>
        </p:txBody>
      </p:sp>
      <p:sp>
        <p:nvSpPr>
          <p:cNvPr id="18" name="Card: output"/>
          <p:cNvSpPr/>
          <p:nvPr/>
        </p:nvSpPr>
        <p:spPr>
          <a:xfrm>
            <a:off x="8158277" y="2514600"/>
            <a:ext cx="3484778" cy="2651760"/>
          </a:xfrm>
          <a:prstGeom prst="roundRect">
            <a:avLst>
              <a:gd name="adj" fmla="val 4138"/>
            </a:avLst>
          </a:prstGeom>
          <a:solidFill>
            <a:srgbClr val="F2F4F8"/>
          </a:solidFill>
          <a:ln w="12700">
            <a:solidFill>
              <a:srgbClr val="F2F4F8"/>
            </a:solidFill>
            <a:prstDash val="solid"/>
          </a:ln>
        </p:spPr>
      </p:sp>
      <p:sp>
        <p:nvSpPr>
          <p:cNvPr id="19" name="Step 3"/>
          <p:cNvSpPr/>
          <p:nvPr/>
        </p:nvSpPr>
        <p:spPr>
          <a:xfrm>
            <a:off x="8478317" y="2788920"/>
            <a:ext cx="548640" cy="548640"/>
          </a:xfrm>
          <a:prstGeom prst="ellipse">
            <a:avLst/>
          </a:prstGeom>
          <a:solidFill>
            <a:srgbClr val="2A78D6"/>
          </a:solidFill>
          <a:ln w="12700">
            <a:solidFill>
              <a:srgbClr val="2A78D6"/>
            </a:solidFill>
            <a:prstDash val="solid"/>
          </a:ln>
        </p:spPr>
      </p:sp>
      <p:sp>
        <p:nvSpPr>
          <p:cNvPr id="20" name="Text 17"/>
          <p:cNvSpPr txBox="1"/>
          <p:nvPr/>
        </p:nvSpPr>
        <p:spPr>
          <a:xfrm>
            <a:off x="8478317" y="2788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21" name="Text 18"/>
          <p:cNvSpPr txBox="1"/>
          <p:nvPr/>
        </p:nvSpPr>
        <p:spPr>
          <a:xfrm>
            <a:off x="9164117" y="2880360"/>
            <a:ext cx="2204618" cy="365760"/>
          </a:xfrm>
          <a:prstGeom prst="rect">
            <a:avLst/>
          </a:prstGeom>
          <a:noFill/>
          <a:ln/>
        </p:spPr>
        <p:txBody>
          <a:bodyPr wrap="square" lIns="0" tIns="0" rIns="0" bIns="0" rtlCol="0" anchor="ctr"/>
          <a:lstStyle/>
          <a:p>
            <a:pPr indent="0" marL="0">
              <a:buNone/>
            </a:pPr>
            <a:r>
              <a:rPr lang="en-US" sz="1300" b="1" spc="200" kern="0" dirty="0">
                <a:solidFill>
                  <a:schemeClr val="accent3"/>
                </a:solidFill>
                <a:latin typeface="Calibri" pitchFamily="34" charset="0"/>
                <a:ea typeface="Calibri" pitchFamily="34" charset="-122"/>
                <a:cs typeface="Calibri" pitchFamily="34" charset="-120"/>
              </a:rPr>
              <a:t>OUTPUT</a:t>
            </a:r>
            <a:endParaRPr lang="en-US" sz="1300" dirty="0"/>
          </a:p>
        </p:txBody>
      </p:sp>
      <p:sp>
        <p:nvSpPr>
          <p:cNvPr id="22" name="Text 19"/>
          <p:cNvSpPr txBox="1"/>
          <p:nvPr/>
        </p:nvSpPr>
        <p:spPr>
          <a:xfrm>
            <a:off x="8478317" y="3611880"/>
            <a:ext cx="2844698" cy="457200"/>
          </a:xfrm>
          <a:prstGeom prst="rect">
            <a:avLst/>
          </a:prstGeom>
          <a:noFill/>
          <a:ln/>
        </p:spPr>
        <p:txBody>
          <a:bodyPr wrap="square" lIns="0" tIns="0" rIns="0" bIns="0" rtlCol="0" anchor="ctr"/>
          <a:lstStyle/>
          <a:p>
            <a:pPr indent="0" marL="0">
              <a:buNone/>
            </a:pPr>
            <a:r>
              <a:rPr lang="en-US" sz="2200" b="1" dirty="0">
                <a:solidFill>
                  <a:schemeClr val="tx1"/>
                </a:solidFill>
                <a:latin typeface="Calibri" pitchFamily="34" charset="0"/>
                <a:ea typeface="Calibri" pitchFamily="34" charset="-122"/>
                <a:cs typeface="Calibri" pitchFamily="34" charset="-120"/>
              </a:rPr>
              <a:t>A success chance</a:t>
            </a:r>
            <a:endParaRPr lang="en-US" sz="2200" dirty="0"/>
          </a:p>
        </p:txBody>
      </p:sp>
      <p:sp>
        <p:nvSpPr>
          <p:cNvPr id="23" name="Text 20"/>
          <p:cNvSpPr txBox="1"/>
          <p:nvPr/>
        </p:nvSpPr>
        <p:spPr>
          <a:xfrm>
            <a:off x="8478317" y="4114800"/>
            <a:ext cx="2844698" cy="86868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 probability from 0 to 100%, plus a clear yes or no</a:t>
            </a:r>
            <a:endParaRPr lang="en-US" sz="1600" dirty="0"/>
          </a:p>
        </p:txBody>
      </p:sp>
      <p:sp>
        <p:nvSpPr>
          <p:cNvPr id="24"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FINDING 1 · FUNDING GOAL</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Smaller goals succeed far more often</a:t>
            </a:r>
            <a:endParaRPr lang="en-US" sz="3400" dirty="0"/>
          </a:p>
        </p:txBody>
      </p:sp>
      <p:graphicFrame>
        <p:nvGraphicFramePr>
          <p:cNvPr id="5" name="Success rate by funding goal" descr=""/>
          <p:cNvGraphicFramePr/>
          <p:nvPr/>
        </p:nvGraphicFramePr>
        <p:xfrm>
          <a:off x="548640" y="1600200"/>
          <a:ext cx="7589520" cy="4480560"/>
        </p:xfrm>
        <a:graphic xmlns:a="http://schemas.openxmlformats.org/drawingml/2006/main">
          <a:graphicData uri="http://schemas.openxmlformats.org/drawingml/2006/chart">
            <c:chart xmlns:c="http://schemas.openxmlformats.org/drawingml/2006/chart" r:id="rId1"/>
          </a:graphicData>
        </a:graphic>
      </p:graphicFrame>
      <p:sp>
        <p:nvSpPr>
          <p:cNvPr id="6" name="Card: takeaway"/>
          <p:cNvSpPr/>
          <p:nvPr/>
        </p:nvSpPr>
        <p:spPr>
          <a:xfrm>
            <a:off x="8503920" y="1828800"/>
            <a:ext cx="3139135" cy="3291840"/>
          </a:xfrm>
          <a:prstGeom prst="roundRect">
            <a:avLst>
              <a:gd name="adj" fmla="val 3495"/>
            </a:avLst>
          </a:prstGeom>
          <a:solidFill>
            <a:srgbClr val="F2F4F8"/>
          </a:solidFill>
          <a:ln w="12700">
            <a:solidFill>
              <a:srgbClr val="F2F4F8"/>
            </a:solidFill>
            <a:prstDash val="solid"/>
          </a:ln>
        </p:spPr>
      </p:sp>
      <p:sp>
        <p:nvSpPr>
          <p:cNvPr id="7" name="Text 3"/>
          <p:cNvSpPr txBox="1"/>
          <p:nvPr/>
        </p:nvSpPr>
        <p:spPr>
          <a:xfrm>
            <a:off x="8823960" y="2103120"/>
            <a:ext cx="2499055" cy="731520"/>
          </a:xfrm>
          <a:prstGeom prst="rect">
            <a:avLst/>
          </a:prstGeom>
          <a:noFill/>
          <a:ln/>
        </p:spPr>
        <p:txBody>
          <a:bodyPr wrap="square" lIns="0" tIns="0" rIns="0" bIns="0" rtlCol="0" anchor="ctr"/>
          <a:lstStyle/>
          <a:p>
            <a:pPr indent="0" marL="0">
              <a:buNone/>
            </a:pPr>
            <a:r>
              <a:rPr lang="en-US" sz="2800" b="1" dirty="0">
                <a:solidFill>
                  <a:schemeClr val="accent3"/>
                </a:solidFill>
                <a:latin typeface="Arial" pitchFamily="34" charset="0"/>
                <a:ea typeface="Arial" pitchFamily="34" charset="-122"/>
                <a:cs typeface="Arial" pitchFamily="34" charset="-120"/>
              </a:rPr>
              <a:t>55% vs. 15%</a:t>
            </a:r>
            <a:endParaRPr lang="en-US" sz="2800" dirty="0"/>
          </a:p>
        </p:txBody>
      </p:sp>
      <p:sp>
        <p:nvSpPr>
          <p:cNvPr id="8" name="Text 4"/>
          <p:cNvSpPr txBox="1"/>
          <p:nvPr/>
        </p:nvSpPr>
        <p:spPr>
          <a:xfrm>
            <a:off x="8823960" y="2880360"/>
            <a:ext cx="2499055" cy="100584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Campaigns under $1k succeed almost four times as often as those over $50k.</a:t>
            </a:r>
            <a:endParaRPr lang="en-US" sz="1600" dirty="0"/>
          </a:p>
        </p:txBody>
      </p:sp>
      <p:sp>
        <p:nvSpPr>
          <p:cNvPr id="9" name="Text 5"/>
          <p:cNvSpPr txBox="1"/>
          <p:nvPr/>
        </p:nvSpPr>
        <p:spPr>
          <a:xfrm>
            <a:off x="8823960" y="3931920"/>
            <a:ext cx="2499055" cy="100584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In every category, successful projects asked for less, typically half to two thirds as much.</a:t>
            </a:r>
            <a:endParaRPr lang="en-US" sz="1600" dirty="0"/>
          </a:p>
        </p:txBody>
      </p:sp>
      <p:sp>
        <p:nvSpPr>
          <p:cNvPr id="10"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Share of successful campaigns by funding goal (USD) · training set, 265,340 campaigns · average 40%</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FINDING 2 · CATEGORY</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Arts beat tech: Dance 66%, Technology 24%</a:t>
            </a:r>
            <a:endParaRPr lang="en-US" sz="3400" dirty="0"/>
          </a:p>
        </p:txBody>
      </p:sp>
      <p:graphicFrame>
        <p:nvGraphicFramePr>
          <p:cNvPr id="5" name="Success rate by main category" descr=""/>
          <p:cNvGraphicFramePr/>
          <p:nvPr/>
        </p:nvGraphicFramePr>
        <p:xfrm>
          <a:off x="548640" y="1508760"/>
          <a:ext cx="7589520" cy="4663440"/>
        </p:xfrm>
        <a:graphic xmlns:a="http://schemas.openxmlformats.org/drawingml/2006/main">
          <a:graphicData uri="http://schemas.openxmlformats.org/drawingml/2006/chart">
            <c:chart xmlns:c="http://schemas.openxmlformats.org/drawingml/2006/chart" r:id="rId1"/>
          </a:graphicData>
        </a:graphic>
      </p:graphicFrame>
      <p:sp>
        <p:nvSpPr>
          <p:cNvPr id="6" name="Card: takeaway"/>
          <p:cNvSpPr/>
          <p:nvPr/>
        </p:nvSpPr>
        <p:spPr>
          <a:xfrm>
            <a:off x="8503920" y="1828800"/>
            <a:ext cx="3139135" cy="3291840"/>
          </a:xfrm>
          <a:prstGeom prst="roundRect">
            <a:avLst>
              <a:gd name="adj" fmla="val 3495"/>
            </a:avLst>
          </a:prstGeom>
          <a:solidFill>
            <a:srgbClr val="F2F4F8"/>
          </a:solidFill>
          <a:ln w="12700">
            <a:solidFill>
              <a:srgbClr val="F2F4F8"/>
            </a:solidFill>
            <a:prstDash val="solid"/>
          </a:ln>
        </p:spPr>
      </p:sp>
      <p:sp>
        <p:nvSpPr>
          <p:cNvPr id="7" name="Text 3"/>
          <p:cNvSpPr txBox="1"/>
          <p:nvPr/>
        </p:nvSpPr>
        <p:spPr>
          <a:xfrm>
            <a:off x="8823960" y="2103120"/>
            <a:ext cx="2499055"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Why tech struggles</a:t>
            </a:r>
            <a:endParaRPr lang="en-US" sz="2000" dirty="0"/>
          </a:p>
        </p:txBody>
      </p:sp>
      <p:sp>
        <p:nvSpPr>
          <p:cNvPr id="8" name="Text 4"/>
          <p:cNvSpPr txBox="1"/>
          <p:nvPr/>
        </p:nvSpPr>
        <p:spPr>
          <a:xfrm>
            <a:off x="8823960" y="2606040"/>
            <a:ext cx="2499055" cy="11887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Tech projects ask for far more money: a typical successful one asked for $10,000, a failed one $20,000.</a:t>
            </a:r>
            <a:endParaRPr lang="en-US" sz="1600" dirty="0"/>
          </a:p>
        </p:txBody>
      </p:sp>
      <p:sp>
        <p:nvSpPr>
          <p:cNvPr id="9" name="Text 5"/>
          <p:cNvSpPr txBox="1"/>
          <p:nvPr/>
        </p:nvSpPr>
        <p:spPr>
          <a:xfrm>
            <a:off x="8823960" y="3931920"/>
            <a:ext cx="2499055" cy="91440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Arts projects often have a loyal community behind them.</a:t>
            </a:r>
            <a:endParaRPr lang="en-US" sz="1600" dirty="0"/>
          </a:p>
        </p:txBody>
      </p:sp>
      <p:sp>
        <p:nvSpPr>
          <p:cNvPr id="10"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Share of successful campaigns by main category · training set, 265,340 campaigns · average 40%</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FINDING 3 · TIMING</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The 30-day default and 60+ days do worst</a:t>
            </a:r>
            <a:endParaRPr lang="en-US" sz="3400" dirty="0"/>
          </a:p>
        </p:txBody>
      </p:sp>
      <p:graphicFrame>
        <p:nvGraphicFramePr>
          <p:cNvPr id="5" name="Campaign length" descr=""/>
          <p:cNvGraphicFramePr/>
          <p:nvPr/>
        </p:nvGraphicFramePr>
        <p:xfrm>
          <a:off x="548640" y="1554480"/>
          <a:ext cx="5272888"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Launch year" descr=""/>
          <p:cNvGraphicFramePr/>
          <p:nvPr/>
        </p:nvGraphicFramePr>
        <p:xfrm>
          <a:off x="6370168" y="1554480"/>
          <a:ext cx="5272888" cy="356616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257800"/>
            <a:ext cx="5272888"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Half of all campaigns use the 30-day default, and only 38% of those succeed. 60+ days: only 25%.</a:t>
            </a:r>
            <a:endParaRPr lang="en-US" sz="1500" dirty="0"/>
          </a:p>
        </p:txBody>
      </p:sp>
      <p:sp>
        <p:nvSpPr>
          <p:cNvPr id="8" name="Text 3"/>
          <p:cNvSpPr txBox="1"/>
          <p:nvPr/>
        </p:nvSpPr>
        <p:spPr>
          <a:xfrm>
            <a:off x="6370168" y="5257800"/>
            <a:ext cx="5272888"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In 2014 the number of campaigns jumped by 44%, and success rates fell.</a:t>
            </a:r>
            <a:endParaRPr lang="en-US" sz="1500" dirty="0"/>
          </a:p>
        </p:txBody>
      </p:sp>
      <p:sp>
        <p:nvSpPr>
          <p:cNvPr id="9"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Share of successful campaigns · training set, 265,340 campaigns · average 40%</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5"/>
                </a:solidFill>
              </a:rPr>
              <a:t>A KEY STEP</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bg1"/>
                </a:solidFill>
              </a:rPr>
              <a:t>The trap: data from the future</a:t>
            </a:r>
            <a:endParaRPr lang="en-US" sz="3400" dirty="0"/>
          </a:p>
        </p:txBody>
      </p:sp>
      <p:sp>
        <p:nvSpPr>
          <p:cNvPr id="5" name="Text 2"/>
          <p:cNvSpPr txBox="1"/>
          <p:nvPr/>
        </p:nvSpPr>
        <p:spPr>
          <a:xfrm>
            <a:off x="548640" y="2103120"/>
            <a:ext cx="5669280" cy="2743200"/>
          </a:xfrm>
          <a:prstGeom prst="rect">
            <a:avLst/>
          </a:prstGeom>
          <a:noFill/>
          <a:ln/>
        </p:spPr>
        <p:txBody>
          <a:bodyPr wrap="square" lIns="0" tIns="0" rIns="0" bIns="0" rtlCol="0" anchor="t"/>
          <a:lstStyle/>
          <a:p>
            <a:pPr indent="0" marL="0">
              <a:buNone/>
            </a:pPr>
            <a:r>
              <a:rPr lang="en-US" sz="2000" dirty="0">
                <a:solidFill>
                  <a:srgbClr val="C8D0DD"/>
                </a:solidFill>
                <a:latin typeface="Calibri" pitchFamily="34" charset="0"/>
                <a:ea typeface="Calibri" pitchFamily="34" charset="-122"/>
                <a:cs typeface="Calibri" pitchFamily="34" charset="-120"/>
              </a:rPr>
              <a:t>The dataset also holds the </a:t>
            </a:r>
            <a:pPr indent="0" marL="0">
              <a:buNone/>
            </a:pPr>
            <a:r>
              <a:rPr lang="en-US" sz="2000" b="1" dirty="0">
                <a:solidFill>
                  <a:srgbClr val="FFFFFF"/>
                </a:solidFill>
                <a:latin typeface="Calibri" pitchFamily="34" charset="0"/>
                <a:ea typeface="Calibri" pitchFamily="34" charset="-122"/>
                <a:cs typeface="Calibri" pitchFamily="34" charset="-120"/>
              </a:rPr>
              <a:t>money pledged</a:t>
            </a:r>
            <a:pPr indent="0" marL="0">
              <a:buNone/>
            </a:pPr>
            <a:r>
              <a:rPr lang="en-US" sz="2000" dirty="0">
                <a:solidFill>
                  <a:srgbClr val="C8D0DD"/>
                </a:solidFill>
                <a:latin typeface="Calibri" pitchFamily="34" charset="0"/>
                <a:ea typeface="Calibri" pitchFamily="34" charset="-122"/>
                <a:cs typeface="Calibri" pitchFamily="34" charset="-120"/>
              </a:rPr>
              <a:t> and the </a:t>
            </a:r>
            <a:pPr indent="0" marL="0">
              <a:buNone/>
            </a:pPr>
            <a:r>
              <a:rPr lang="en-US" sz="2000" b="1" dirty="0">
                <a:solidFill>
                  <a:srgbClr val="FFFFFF"/>
                </a:solidFill>
                <a:latin typeface="Calibri" pitchFamily="34" charset="0"/>
                <a:ea typeface="Calibri" pitchFamily="34" charset="-122"/>
                <a:cs typeface="Calibri" pitchFamily="34" charset="-120"/>
              </a:rPr>
              <a:t>number of backers</a:t>
            </a:r>
            <a:pPr indent="0" marL="0">
              <a:buNone/>
            </a:pPr>
            <a:r>
              <a:rPr lang="en-US" sz="2000" dirty="0">
                <a:solidFill>
                  <a:srgbClr val="C8D0DD"/>
                </a:solidFill>
                <a:latin typeface="Calibri" pitchFamily="34" charset="0"/>
                <a:ea typeface="Calibri" pitchFamily="34" charset="-122"/>
                <a:cs typeface="Calibri" pitchFamily="34" charset="-120"/>
              </a:rPr>
              <a:t>. Both are only known after the campaign ends.</a:t>
            </a:r>
            <a:endParaRPr lang="en-US" sz="2000" dirty="0"/>
          </a:p>
          <a:p>
            <a:pPr indent="0" marL="0">
              <a:buNone/>
            </a:pPr>
            <a:r>
              <a:rPr lang="en-US" sz="2000" dirty="0">
                <a:solidFill>
                  <a:srgbClr val="C8D0DD"/>
                </a:solidFill>
                <a:latin typeface="Calibri" pitchFamily="34" charset="0"/>
                <a:ea typeface="Calibri" pitchFamily="34" charset="-122"/>
                <a:cs typeface="Calibri" pitchFamily="34" charset="-120"/>
              </a:rPr>
              <a:t> </a:t>
            </a:r>
            <a:endParaRPr lang="en-US" sz="2000" dirty="0"/>
          </a:p>
          <a:p>
            <a:pPr indent="0" marL="0">
              <a:buNone/>
            </a:pPr>
            <a:r>
              <a:rPr lang="en-US" sz="2000" dirty="0">
                <a:solidFill>
                  <a:srgbClr val="C8D0DD"/>
                </a:solidFill>
                <a:latin typeface="Calibri" pitchFamily="34" charset="0"/>
                <a:ea typeface="Calibri" pitchFamily="34" charset="-122"/>
                <a:cs typeface="Calibri" pitchFamily="34" charset="-120"/>
              </a:rPr>
              <a:t>A model that uses them looks perfect, but is useless on launch day. </a:t>
            </a:r>
            <a:pPr indent="0" marL="0">
              <a:buNone/>
            </a:pPr>
            <a:r>
              <a:rPr lang="en-US" sz="2000" b="1" dirty="0">
                <a:solidFill>
                  <a:srgbClr val="FFFFFF"/>
                </a:solidFill>
                <a:latin typeface="Calibri" pitchFamily="34" charset="0"/>
                <a:ea typeface="Calibri" pitchFamily="34" charset="-122"/>
                <a:cs typeface="Calibri" pitchFamily="34" charset="-120"/>
              </a:rPr>
              <a:t>We removed them.</a:t>
            </a:r>
            <a:endParaRPr lang="en-US" sz="2000" dirty="0"/>
          </a:p>
        </p:txBody>
      </p:sp>
      <p:sp>
        <p:nvSpPr>
          <p:cNvPr id="6" name="Text 3"/>
          <p:cNvSpPr txBox="1"/>
          <p:nvPr/>
        </p:nvSpPr>
        <p:spPr>
          <a:xfrm>
            <a:off x="6675120" y="2103120"/>
            <a:ext cx="4937760" cy="1371600"/>
          </a:xfrm>
          <a:prstGeom prst="rect">
            <a:avLst/>
          </a:prstGeom>
          <a:noFill/>
          <a:ln/>
        </p:spPr>
        <p:txBody>
          <a:bodyPr wrap="square" lIns="0" tIns="0" rIns="0" bIns="0" rtlCol="0" anchor="t"/>
          <a:lstStyle/>
          <a:p>
            <a:pPr indent="0" marL="0">
              <a:buNone/>
            </a:pPr>
            <a:r>
              <a:rPr lang="en-US" sz="8000" b="1" dirty="0">
                <a:solidFill>
                  <a:schemeClr val="accent5"/>
                </a:solidFill>
                <a:latin typeface="Arial" pitchFamily="34" charset="0"/>
                <a:ea typeface="Arial" pitchFamily="34" charset="-122"/>
                <a:cs typeface="Arial" pitchFamily="34" charset="-120"/>
              </a:rPr>
              <a:t>99.997%</a:t>
            </a:r>
            <a:endParaRPr lang="en-US" sz="8000" dirty="0"/>
          </a:p>
        </p:txBody>
      </p:sp>
      <p:sp>
        <p:nvSpPr>
          <p:cNvPr id="7" name="Text 4"/>
          <p:cNvSpPr txBox="1"/>
          <p:nvPr/>
        </p:nvSpPr>
        <p:spPr>
          <a:xfrm>
            <a:off x="6675120" y="3566160"/>
            <a:ext cx="4754880" cy="914400"/>
          </a:xfrm>
          <a:prstGeom prst="rect">
            <a:avLst/>
          </a:prstGeom>
          <a:noFill/>
          <a:ln/>
        </p:spPr>
        <p:txBody>
          <a:bodyPr wrap="square" lIns="0" tIns="0" rIns="0" bIns="0" rtlCol="0" anchor="t"/>
          <a:lstStyle/>
          <a:p>
            <a:pPr indent="0" marL="0">
              <a:buNone/>
            </a:pPr>
            <a:r>
              <a:rPr lang="en-US" sz="1800" dirty="0">
                <a:solidFill>
                  <a:srgbClr val="C8D0DD"/>
                </a:solidFill>
                <a:latin typeface="Calibri" pitchFamily="34" charset="0"/>
                <a:ea typeface="Calibri" pitchFamily="34" charset="-122"/>
                <a:cs typeface="Calibri" pitchFamily="34" charset="-120"/>
              </a:rPr>
              <a:t>of outcomes are explained by one rule: “pledged at least the goal”</a:t>
            </a:r>
            <a:endParaRPr lang="en-US" sz="1800" dirty="0"/>
          </a:p>
        </p:txBody>
      </p:sp>
      <p:sp>
        <p:nvSpPr>
          <p:cNvPr id="8"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C8D0D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OUR PROCESS</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How we built it, step by step</a:t>
            </a:r>
            <a:endParaRPr lang="en-US" sz="3400" dirty="0"/>
          </a:p>
        </p:txBody>
      </p:sp>
      <p:sp>
        <p:nvSpPr>
          <p:cNvPr id="5" name="Step card 1"/>
          <p:cNvSpPr/>
          <p:nvPr/>
        </p:nvSpPr>
        <p:spPr>
          <a:xfrm>
            <a:off x="548640" y="1828800"/>
            <a:ext cx="2036003" cy="2834640"/>
          </a:xfrm>
          <a:prstGeom prst="roundRect">
            <a:avLst>
              <a:gd name="adj" fmla="val 5389"/>
            </a:avLst>
          </a:prstGeom>
          <a:solidFill>
            <a:srgbClr val="F2F4F8"/>
          </a:solidFill>
          <a:ln w="12700">
            <a:solidFill>
              <a:srgbClr val="F2F4F8"/>
            </a:solidFill>
            <a:prstDash val="solid"/>
          </a:ln>
        </p:spPr>
      </p:sp>
      <p:sp>
        <p:nvSpPr>
          <p:cNvPr id="6" name="Step number 1"/>
          <p:cNvSpPr/>
          <p:nvPr/>
        </p:nvSpPr>
        <p:spPr>
          <a:xfrm>
            <a:off x="822960" y="2103120"/>
            <a:ext cx="594360" cy="594360"/>
          </a:xfrm>
          <a:prstGeom prst="ellipse">
            <a:avLst/>
          </a:prstGeom>
          <a:solidFill>
            <a:srgbClr val="2A78D6"/>
          </a:solidFill>
          <a:ln w="12700">
            <a:solidFill>
              <a:srgbClr val="2A78D6"/>
            </a:solidFill>
            <a:prstDash val="solid"/>
          </a:ln>
        </p:spPr>
      </p:sp>
      <p:sp>
        <p:nvSpPr>
          <p:cNvPr id="7" name="Text 4"/>
          <p:cNvSpPr txBox="1"/>
          <p:nvPr/>
        </p:nvSpPr>
        <p:spPr>
          <a:xfrm>
            <a:off x="822960" y="2103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1</a:t>
            </a:r>
            <a:endParaRPr lang="en-US" sz="2200" dirty="0"/>
          </a:p>
        </p:txBody>
      </p:sp>
      <p:sp>
        <p:nvSpPr>
          <p:cNvPr id="8" name="Text 5"/>
          <p:cNvSpPr txBox="1"/>
          <p:nvPr/>
        </p:nvSpPr>
        <p:spPr>
          <a:xfrm>
            <a:off x="822960" y="2880360"/>
            <a:ext cx="1578803"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Clean the data</a:t>
            </a:r>
            <a:endParaRPr lang="en-US" sz="1800" dirty="0"/>
          </a:p>
        </p:txBody>
      </p:sp>
      <p:sp>
        <p:nvSpPr>
          <p:cNvPr id="9" name="Text 6"/>
          <p:cNvSpPr txBox="1"/>
          <p:nvPr/>
        </p:nvSpPr>
        <p:spPr>
          <a:xfrm>
            <a:off x="822960" y="3566160"/>
            <a:ext cx="1578803"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Keep finished campaigns, remove future data, fix errors</a:t>
            </a:r>
            <a:endParaRPr lang="en-US" sz="1400" dirty="0"/>
          </a:p>
        </p:txBody>
      </p:sp>
      <p:sp>
        <p:nvSpPr>
          <p:cNvPr id="10" name="Step card 2"/>
          <p:cNvSpPr/>
          <p:nvPr/>
        </p:nvSpPr>
        <p:spPr>
          <a:xfrm>
            <a:off x="2813243" y="1828800"/>
            <a:ext cx="2036003" cy="2834640"/>
          </a:xfrm>
          <a:prstGeom prst="roundRect">
            <a:avLst>
              <a:gd name="adj" fmla="val 5389"/>
            </a:avLst>
          </a:prstGeom>
          <a:solidFill>
            <a:srgbClr val="F2F4F8"/>
          </a:solidFill>
          <a:ln w="12700">
            <a:solidFill>
              <a:srgbClr val="F2F4F8"/>
            </a:solidFill>
            <a:prstDash val="solid"/>
          </a:ln>
        </p:spPr>
      </p:sp>
      <p:sp>
        <p:nvSpPr>
          <p:cNvPr id="11" name="Step number 2"/>
          <p:cNvSpPr/>
          <p:nvPr/>
        </p:nvSpPr>
        <p:spPr>
          <a:xfrm>
            <a:off x="3087563" y="2103120"/>
            <a:ext cx="594360" cy="594360"/>
          </a:xfrm>
          <a:prstGeom prst="ellipse">
            <a:avLst/>
          </a:prstGeom>
          <a:solidFill>
            <a:srgbClr val="2A78D6"/>
          </a:solidFill>
          <a:ln w="12700">
            <a:solidFill>
              <a:srgbClr val="2A78D6"/>
            </a:solidFill>
            <a:prstDash val="solid"/>
          </a:ln>
        </p:spPr>
      </p:sp>
      <p:sp>
        <p:nvSpPr>
          <p:cNvPr id="12" name="Text 9"/>
          <p:cNvSpPr txBox="1"/>
          <p:nvPr/>
        </p:nvSpPr>
        <p:spPr>
          <a:xfrm>
            <a:off x="3087563" y="2103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2</a:t>
            </a:r>
            <a:endParaRPr lang="en-US" sz="2200" dirty="0"/>
          </a:p>
        </p:txBody>
      </p:sp>
      <p:sp>
        <p:nvSpPr>
          <p:cNvPr id="13" name="Text 10"/>
          <p:cNvSpPr txBox="1"/>
          <p:nvPr/>
        </p:nvSpPr>
        <p:spPr>
          <a:xfrm>
            <a:off x="3087563" y="2880360"/>
            <a:ext cx="1578803"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Hide a test set</a:t>
            </a:r>
            <a:endParaRPr lang="en-US" sz="1800" dirty="0"/>
          </a:p>
        </p:txBody>
      </p:sp>
      <p:sp>
        <p:nvSpPr>
          <p:cNvPr id="14" name="Text 11"/>
          <p:cNvSpPr txBox="1"/>
          <p:nvPr/>
        </p:nvSpPr>
        <p:spPr>
          <a:xfrm>
            <a:off x="3087563" y="3566160"/>
            <a:ext cx="1578803"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Lock away 20% of campaigns for the final exam</a:t>
            </a:r>
            <a:endParaRPr lang="en-US" sz="1400" dirty="0"/>
          </a:p>
        </p:txBody>
      </p:sp>
      <p:sp>
        <p:nvSpPr>
          <p:cNvPr id="15" name="Step card 3"/>
          <p:cNvSpPr/>
          <p:nvPr/>
        </p:nvSpPr>
        <p:spPr>
          <a:xfrm>
            <a:off x="5077846" y="1828800"/>
            <a:ext cx="2036003" cy="2834640"/>
          </a:xfrm>
          <a:prstGeom prst="roundRect">
            <a:avLst>
              <a:gd name="adj" fmla="val 5389"/>
            </a:avLst>
          </a:prstGeom>
          <a:solidFill>
            <a:srgbClr val="F2F4F8"/>
          </a:solidFill>
          <a:ln w="12700">
            <a:solidFill>
              <a:srgbClr val="F2F4F8"/>
            </a:solidFill>
            <a:prstDash val="solid"/>
          </a:ln>
        </p:spPr>
      </p:sp>
      <p:sp>
        <p:nvSpPr>
          <p:cNvPr id="16" name="Step number 3"/>
          <p:cNvSpPr/>
          <p:nvPr/>
        </p:nvSpPr>
        <p:spPr>
          <a:xfrm>
            <a:off x="5352166" y="2103120"/>
            <a:ext cx="594360" cy="594360"/>
          </a:xfrm>
          <a:prstGeom prst="ellipse">
            <a:avLst/>
          </a:prstGeom>
          <a:solidFill>
            <a:srgbClr val="2A78D6"/>
          </a:solidFill>
          <a:ln w="12700">
            <a:solidFill>
              <a:srgbClr val="2A78D6"/>
            </a:solidFill>
            <a:prstDash val="solid"/>
          </a:ln>
        </p:spPr>
      </p:sp>
      <p:sp>
        <p:nvSpPr>
          <p:cNvPr id="17" name="Text 14"/>
          <p:cNvSpPr txBox="1"/>
          <p:nvPr/>
        </p:nvSpPr>
        <p:spPr>
          <a:xfrm>
            <a:off x="5352166" y="2103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3</a:t>
            </a:r>
            <a:endParaRPr lang="en-US" sz="2200" dirty="0"/>
          </a:p>
        </p:txBody>
      </p:sp>
      <p:sp>
        <p:nvSpPr>
          <p:cNvPr id="18" name="Text 15"/>
          <p:cNvSpPr txBox="1"/>
          <p:nvPr/>
        </p:nvSpPr>
        <p:spPr>
          <a:xfrm>
            <a:off x="5352166" y="2880360"/>
            <a:ext cx="1578803"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Simple rules first</a:t>
            </a:r>
            <a:endParaRPr lang="en-US" sz="1800" dirty="0"/>
          </a:p>
        </p:txBody>
      </p:sp>
      <p:sp>
        <p:nvSpPr>
          <p:cNvPr id="19" name="Text 16"/>
          <p:cNvSpPr txBox="1"/>
          <p:nvPr/>
        </p:nvSpPr>
        <p:spPr>
          <a:xfrm>
            <a:off x="5352166" y="3566160"/>
            <a:ext cx="1578803"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“Small goal = success”: the score to beat</a:t>
            </a:r>
            <a:endParaRPr lang="en-US" sz="1400" dirty="0"/>
          </a:p>
        </p:txBody>
      </p:sp>
      <p:sp>
        <p:nvSpPr>
          <p:cNvPr id="20" name="Step card 4"/>
          <p:cNvSpPr/>
          <p:nvPr/>
        </p:nvSpPr>
        <p:spPr>
          <a:xfrm>
            <a:off x="7342449" y="1828800"/>
            <a:ext cx="2036003" cy="2834640"/>
          </a:xfrm>
          <a:prstGeom prst="roundRect">
            <a:avLst>
              <a:gd name="adj" fmla="val 5389"/>
            </a:avLst>
          </a:prstGeom>
          <a:solidFill>
            <a:srgbClr val="F2F4F8"/>
          </a:solidFill>
          <a:ln w="12700">
            <a:solidFill>
              <a:srgbClr val="F2F4F8"/>
            </a:solidFill>
            <a:prstDash val="solid"/>
          </a:ln>
        </p:spPr>
      </p:sp>
      <p:sp>
        <p:nvSpPr>
          <p:cNvPr id="21" name="Step number 4"/>
          <p:cNvSpPr/>
          <p:nvPr/>
        </p:nvSpPr>
        <p:spPr>
          <a:xfrm>
            <a:off x="7616769" y="2103120"/>
            <a:ext cx="594360" cy="594360"/>
          </a:xfrm>
          <a:prstGeom prst="ellipse">
            <a:avLst/>
          </a:prstGeom>
          <a:solidFill>
            <a:srgbClr val="2A78D6"/>
          </a:solidFill>
          <a:ln w="12700">
            <a:solidFill>
              <a:srgbClr val="2A78D6"/>
            </a:solidFill>
            <a:prstDash val="solid"/>
          </a:ln>
        </p:spPr>
      </p:sp>
      <p:sp>
        <p:nvSpPr>
          <p:cNvPr id="22" name="Text 19"/>
          <p:cNvSpPr txBox="1"/>
          <p:nvPr/>
        </p:nvSpPr>
        <p:spPr>
          <a:xfrm>
            <a:off x="7616769" y="2103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4</a:t>
            </a:r>
            <a:endParaRPr lang="en-US" sz="2200" dirty="0"/>
          </a:p>
        </p:txBody>
      </p:sp>
      <p:sp>
        <p:nvSpPr>
          <p:cNvPr id="23" name="Text 20"/>
          <p:cNvSpPr txBox="1"/>
          <p:nvPr/>
        </p:nvSpPr>
        <p:spPr>
          <a:xfrm>
            <a:off x="7616769" y="2880360"/>
            <a:ext cx="1578803"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Compare 3 models</a:t>
            </a:r>
            <a:endParaRPr lang="en-US" sz="1800" dirty="0"/>
          </a:p>
        </p:txBody>
      </p:sp>
      <p:sp>
        <p:nvSpPr>
          <p:cNvPr id="24" name="Text 21"/>
          <p:cNvSpPr txBox="1"/>
          <p:nvPr/>
        </p:nvSpPr>
        <p:spPr>
          <a:xfrm>
            <a:off x="7616769" y="3566160"/>
            <a:ext cx="1578803"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Linear model, random forest, gradient boosting</a:t>
            </a:r>
            <a:endParaRPr lang="en-US" sz="1400" dirty="0"/>
          </a:p>
        </p:txBody>
      </p:sp>
      <p:sp>
        <p:nvSpPr>
          <p:cNvPr id="25" name="Step card 5"/>
          <p:cNvSpPr/>
          <p:nvPr/>
        </p:nvSpPr>
        <p:spPr>
          <a:xfrm>
            <a:off x="9607052" y="1828800"/>
            <a:ext cx="2036003" cy="2834640"/>
          </a:xfrm>
          <a:prstGeom prst="roundRect">
            <a:avLst>
              <a:gd name="adj" fmla="val 5389"/>
            </a:avLst>
          </a:prstGeom>
          <a:solidFill>
            <a:srgbClr val="F2F4F8"/>
          </a:solidFill>
          <a:ln w="12700">
            <a:solidFill>
              <a:srgbClr val="F2F4F8"/>
            </a:solidFill>
            <a:prstDash val="solid"/>
          </a:ln>
        </p:spPr>
      </p:sp>
      <p:sp>
        <p:nvSpPr>
          <p:cNvPr id="26" name="Step number 5"/>
          <p:cNvSpPr/>
          <p:nvPr/>
        </p:nvSpPr>
        <p:spPr>
          <a:xfrm>
            <a:off x="9881372" y="2103120"/>
            <a:ext cx="594360" cy="594360"/>
          </a:xfrm>
          <a:prstGeom prst="ellipse">
            <a:avLst/>
          </a:prstGeom>
          <a:solidFill>
            <a:srgbClr val="2A78D6"/>
          </a:solidFill>
          <a:ln w="12700">
            <a:solidFill>
              <a:srgbClr val="2A78D6"/>
            </a:solidFill>
            <a:prstDash val="solid"/>
          </a:ln>
        </p:spPr>
      </p:sp>
      <p:sp>
        <p:nvSpPr>
          <p:cNvPr id="27" name="Text 24"/>
          <p:cNvSpPr txBox="1"/>
          <p:nvPr/>
        </p:nvSpPr>
        <p:spPr>
          <a:xfrm>
            <a:off x="9881372" y="2103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libri" pitchFamily="34" charset="0"/>
                <a:ea typeface="Calibri" pitchFamily="34" charset="-122"/>
                <a:cs typeface="Calibri" pitchFamily="34" charset="-120"/>
              </a:rPr>
              <a:t>5</a:t>
            </a:r>
            <a:endParaRPr lang="en-US" sz="2200" dirty="0"/>
          </a:p>
        </p:txBody>
      </p:sp>
      <p:sp>
        <p:nvSpPr>
          <p:cNvPr id="28" name="Text 25"/>
          <p:cNvSpPr txBox="1"/>
          <p:nvPr/>
        </p:nvSpPr>
        <p:spPr>
          <a:xfrm>
            <a:off x="9881372" y="2880360"/>
            <a:ext cx="1578803"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Tune and test</a:t>
            </a:r>
            <a:endParaRPr lang="en-US" sz="1800" dirty="0"/>
          </a:p>
        </p:txBody>
      </p:sp>
      <p:sp>
        <p:nvSpPr>
          <p:cNvPr id="29" name="Text 26"/>
          <p:cNvSpPr txBox="1"/>
          <p:nvPr/>
        </p:nvSpPr>
        <p:spPr>
          <a:xfrm>
            <a:off x="9881372" y="3566160"/>
            <a:ext cx="1578803"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Tune the best one, then take the exam once</a:t>
            </a:r>
            <a:endParaRPr lang="en-US" sz="1400" dirty="0"/>
          </a:p>
        </p:txBody>
      </p:sp>
      <p:sp>
        <p:nvSpPr>
          <p:cNvPr id="30" name="Text 27"/>
          <p:cNvSpPr txBox="1"/>
          <p:nvPr/>
        </p:nvSpPr>
        <p:spPr>
          <a:xfrm>
            <a:off x="548640" y="5029200"/>
            <a:ext cx="11094415" cy="7315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Every model was trained and compared on the other 80% only, using 5-fold cross-validation: train on four parts, check on the fifth, repeat.</a:t>
            </a:r>
            <a:endParaRPr lang="en-US" sz="1600" dirty="0"/>
          </a:p>
        </p:txBody>
      </p:sp>
      <p:sp>
        <p:nvSpPr>
          <p:cNvPr id="31"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RESULT · TESTED ON 66,335 UNSEEN CAMPAIGNS</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The model separates risky from promising</a:t>
            </a:r>
            <a:endParaRPr lang="en-US" sz="3400" dirty="0"/>
          </a:p>
        </p:txBody>
      </p:sp>
      <p:graphicFrame>
        <p:nvGraphicFramePr>
          <p:cNvPr id="5" name="Ranking score (ROC-AUC)" descr=""/>
          <p:cNvGraphicFramePr/>
          <p:nvPr/>
        </p:nvGraphicFramePr>
        <p:xfrm>
          <a:off x="548640" y="1645920"/>
          <a:ext cx="6766560" cy="2926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4754880"/>
            <a:ext cx="6583680" cy="8229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Show the model one successful and one failed campaign: it ranks the successful one higher in about </a:t>
            </a:r>
            <a:pPr indent="0" marL="0">
              <a:buNone/>
            </a:pPr>
            <a:r>
              <a:rPr lang="en-US" sz="1600" b="1" dirty="0">
                <a:solidFill>
                  <a:srgbClr val="14213D"/>
                </a:solidFill>
                <a:latin typeface="Calibri" pitchFamily="34" charset="0"/>
                <a:ea typeface="Calibri" pitchFamily="34" charset="-122"/>
                <a:cs typeface="Calibri" pitchFamily="34" charset="-120"/>
              </a:rPr>
              <a:t>3 out of 4</a:t>
            </a:r>
            <a:pPr indent="0" marL="0">
              <a:buNone/>
            </a:pPr>
            <a:r>
              <a:rPr lang="en-US" sz="1600" dirty="0">
                <a:solidFill>
                  <a:schemeClr val="tx2"/>
                </a:solidFill>
                <a:latin typeface="Calibri" pitchFamily="34" charset="0"/>
                <a:ea typeface="Calibri" pitchFamily="34" charset="-122"/>
                <a:cs typeface="Calibri" pitchFamily="34" charset="-120"/>
              </a:rPr>
              <a:t> pairs.</a:t>
            </a:r>
            <a:endParaRPr lang="en-US" sz="1600" dirty="0"/>
          </a:p>
        </p:txBody>
      </p:sp>
      <p:sp>
        <p:nvSpPr>
          <p:cNvPr id="7" name="Card: most promising"/>
          <p:cNvSpPr/>
          <p:nvPr/>
        </p:nvSpPr>
        <p:spPr>
          <a:xfrm>
            <a:off x="7863840" y="1645920"/>
            <a:ext cx="3779215" cy="1965960"/>
          </a:xfrm>
          <a:prstGeom prst="roundRect">
            <a:avLst>
              <a:gd name="adj" fmla="val 5581"/>
            </a:avLst>
          </a:prstGeom>
          <a:solidFill>
            <a:srgbClr val="F2F4F8"/>
          </a:solidFill>
          <a:ln w="12700">
            <a:solidFill>
              <a:srgbClr val="F2F4F8"/>
            </a:solidFill>
            <a:prstDash val="solid"/>
          </a:ln>
        </p:spPr>
      </p:sp>
      <p:sp>
        <p:nvSpPr>
          <p:cNvPr id="8" name="Text 4"/>
          <p:cNvSpPr txBox="1"/>
          <p:nvPr/>
        </p:nvSpPr>
        <p:spPr>
          <a:xfrm>
            <a:off x="8183880" y="1783080"/>
            <a:ext cx="3139135" cy="868680"/>
          </a:xfrm>
          <a:prstGeom prst="rect">
            <a:avLst/>
          </a:prstGeom>
          <a:noFill/>
          <a:ln/>
        </p:spPr>
        <p:txBody>
          <a:bodyPr wrap="square" lIns="0" tIns="0" rIns="0" bIns="0" rtlCol="0" anchor="t"/>
          <a:lstStyle/>
          <a:p>
            <a:pPr indent="0" marL="0">
              <a:buNone/>
            </a:pPr>
            <a:r>
              <a:rPr lang="en-US" sz="4800" b="1" dirty="0">
                <a:solidFill>
                  <a:schemeClr val="accent3"/>
                </a:solidFill>
                <a:latin typeface="Arial" pitchFamily="34" charset="0"/>
                <a:ea typeface="Arial" pitchFamily="34" charset="-122"/>
                <a:cs typeface="Arial" pitchFamily="34" charset="-120"/>
              </a:rPr>
              <a:t>77%</a:t>
            </a:r>
            <a:endParaRPr lang="en-US" sz="4800" dirty="0"/>
          </a:p>
        </p:txBody>
      </p:sp>
      <p:sp>
        <p:nvSpPr>
          <p:cNvPr id="9" name="Text 5"/>
          <p:cNvSpPr txBox="1"/>
          <p:nvPr/>
        </p:nvSpPr>
        <p:spPr>
          <a:xfrm>
            <a:off x="8183880" y="2697480"/>
            <a:ext cx="3139135"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succeeded among the 10% rated most promising</a:t>
            </a:r>
            <a:endParaRPr lang="en-US" sz="1800" dirty="0"/>
          </a:p>
        </p:txBody>
      </p:sp>
      <p:sp>
        <p:nvSpPr>
          <p:cNvPr id="10" name="Card: most risky"/>
          <p:cNvSpPr/>
          <p:nvPr/>
        </p:nvSpPr>
        <p:spPr>
          <a:xfrm>
            <a:off x="7863840" y="3794760"/>
            <a:ext cx="3779215" cy="1965960"/>
          </a:xfrm>
          <a:prstGeom prst="roundRect">
            <a:avLst>
              <a:gd name="adj" fmla="val 5581"/>
            </a:avLst>
          </a:prstGeom>
          <a:solidFill>
            <a:srgbClr val="F2F4F8"/>
          </a:solidFill>
          <a:ln w="12700">
            <a:solidFill>
              <a:srgbClr val="F2F4F8"/>
            </a:solidFill>
            <a:prstDash val="solid"/>
          </a:ln>
        </p:spPr>
      </p:sp>
      <p:sp>
        <p:nvSpPr>
          <p:cNvPr id="11" name="Text 7"/>
          <p:cNvSpPr txBox="1"/>
          <p:nvPr/>
        </p:nvSpPr>
        <p:spPr>
          <a:xfrm>
            <a:off x="8183880" y="3931920"/>
            <a:ext cx="3139135" cy="868680"/>
          </a:xfrm>
          <a:prstGeom prst="rect">
            <a:avLst/>
          </a:prstGeom>
          <a:noFill/>
          <a:ln/>
        </p:spPr>
        <p:txBody>
          <a:bodyPr wrap="square" lIns="0" tIns="0" rIns="0" bIns="0" rtlCol="0" anchor="t"/>
          <a:lstStyle/>
          <a:p>
            <a:pPr indent="0" marL="0">
              <a:buNone/>
            </a:pPr>
            <a:r>
              <a:rPr lang="en-US" sz="4800" b="1" dirty="0">
                <a:solidFill>
                  <a:schemeClr val="accent4"/>
                </a:solidFill>
                <a:latin typeface="Arial" pitchFamily="34" charset="0"/>
                <a:ea typeface="Arial" pitchFamily="34" charset="-122"/>
                <a:cs typeface="Arial" pitchFamily="34" charset="-120"/>
              </a:rPr>
              <a:t>5%</a:t>
            </a:r>
            <a:endParaRPr lang="en-US" sz="4800" dirty="0"/>
          </a:p>
        </p:txBody>
      </p:sp>
      <p:sp>
        <p:nvSpPr>
          <p:cNvPr id="12" name="Text 8"/>
          <p:cNvSpPr txBox="1"/>
          <p:nvPr/>
        </p:nvSpPr>
        <p:spPr>
          <a:xfrm>
            <a:off x="8183880" y="4846320"/>
            <a:ext cx="3139135"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succeeded among the 10% rated most risky</a:t>
            </a:r>
            <a:endParaRPr lang="en-US" sz="1800" dirty="0"/>
          </a:p>
        </p:txBody>
      </p:sp>
      <p:sp>
        <p:nvSpPr>
          <p:cNvPr id="13"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STRENGTHS AND WEAKNESSES</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What it gets right, and where it fails</a:t>
            </a:r>
            <a:endParaRPr lang="en-US" sz="3400" dirty="0"/>
          </a:p>
        </p:txBody>
      </p:sp>
      <p:sp>
        <p:nvSpPr>
          <p:cNvPr id="5" name="Card: of successful campaigns found"/>
          <p:cNvSpPr/>
          <p:nvPr/>
        </p:nvSpPr>
        <p:spPr>
          <a:xfrm>
            <a:off x="548640" y="1691640"/>
            <a:ext cx="3484778" cy="2926080"/>
          </a:xfrm>
          <a:prstGeom prst="roundRect">
            <a:avLst>
              <a:gd name="adj" fmla="val 3750"/>
            </a:avLst>
          </a:prstGeom>
          <a:solidFill>
            <a:srgbClr val="F2F4F8"/>
          </a:solidFill>
          <a:ln w="12700">
            <a:solidFill>
              <a:srgbClr val="F2F4F8"/>
            </a:solidFill>
            <a:prstDash val="solid"/>
          </a:ln>
        </p:spPr>
      </p:sp>
      <p:sp>
        <p:nvSpPr>
          <p:cNvPr id="6" name="Text 3"/>
          <p:cNvSpPr txBox="1"/>
          <p:nvPr/>
        </p:nvSpPr>
        <p:spPr>
          <a:xfrm>
            <a:off x="868680" y="1920240"/>
            <a:ext cx="2844698" cy="86868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83%</a:t>
            </a:r>
            <a:endParaRPr lang="en-US" sz="5400" dirty="0"/>
          </a:p>
        </p:txBody>
      </p:sp>
      <p:sp>
        <p:nvSpPr>
          <p:cNvPr id="7" name="Text 4"/>
          <p:cNvSpPr txBox="1"/>
          <p:nvPr/>
        </p:nvSpPr>
        <p:spPr>
          <a:xfrm>
            <a:off x="868680" y="283464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of successful campaigns found</a:t>
            </a:r>
            <a:endParaRPr lang="en-US" sz="1800" dirty="0"/>
          </a:p>
        </p:txBody>
      </p:sp>
      <p:sp>
        <p:nvSpPr>
          <p:cNvPr id="8" name="Text 5"/>
          <p:cNvSpPr txBox="1"/>
          <p:nvPr/>
        </p:nvSpPr>
        <p:spPr>
          <a:xfrm>
            <a:off x="868680" y="3520440"/>
            <a:ext cx="284469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22,266 of 26,791 successful test campaigns were called “likely to succeed”.</a:t>
            </a:r>
            <a:endParaRPr lang="en-US" sz="1500" dirty="0"/>
          </a:p>
        </p:txBody>
      </p:sp>
      <p:sp>
        <p:nvSpPr>
          <p:cNvPr id="9" name="Card: of “success” calls are false hope"/>
          <p:cNvSpPr/>
          <p:nvPr/>
        </p:nvSpPr>
        <p:spPr>
          <a:xfrm>
            <a:off x="4353458" y="1691640"/>
            <a:ext cx="3484778" cy="2926080"/>
          </a:xfrm>
          <a:prstGeom prst="roundRect">
            <a:avLst>
              <a:gd name="adj" fmla="val 3750"/>
            </a:avLst>
          </a:prstGeom>
          <a:solidFill>
            <a:srgbClr val="F2F4F8"/>
          </a:solidFill>
          <a:ln w="12700">
            <a:solidFill>
              <a:srgbClr val="F2F4F8"/>
            </a:solidFill>
            <a:prstDash val="solid"/>
          </a:ln>
        </p:spPr>
      </p:sp>
      <p:sp>
        <p:nvSpPr>
          <p:cNvPr id="10" name="Text 7"/>
          <p:cNvSpPr txBox="1"/>
          <p:nvPr/>
        </p:nvSpPr>
        <p:spPr>
          <a:xfrm>
            <a:off x="4673498" y="1920240"/>
            <a:ext cx="2844698" cy="868680"/>
          </a:xfrm>
          <a:prstGeom prst="rect">
            <a:avLst/>
          </a:prstGeom>
          <a:noFill/>
          <a:ln/>
        </p:spPr>
        <p:txBody>
          <a:bodyPr wrap="square" lIns="0" tIns="0" rIns="0" bIns="0" rtlCol="0" anchor="t"/>
          <a:lstStyle/>
          <a:p>
            <a:pPr indent="0" marL="0">
              <a:buNone/>
            </a:pPr>
            <a:r>
              <a:rPr lang="en-US" sz="5400" b="1" dirty="0">
                <a:solidFill>
                  <a:schemeClr val="accent4"/>
                </a:solidFill>
                <a:latin typeface="Arial" pitchFamily="34" charset="0"/>
                <a:ea typeface="Arial" pitchFamily="34" charset="-122"/>
                <a:cs typeface="Arial" pitchFamily="34" charset="-120"/>
              </a:rPr>
              <a:t>45%</a:t>
            </a:r>
            <a:endParaRPr lang="en-US" sz="5400" dirty="0"/>
          </a:p>
        </p:txBody>
      </p:sp>
      <p:sp>
        <p:nvSpPr>
          <p:cNvPr id="11" name="Text 8"/>
          <p:cNvSpPr txBox="1"/>
          <p:nvPr/>
        </p:nvSpPr>
        <p:spPr>
          <a:xfrm>
            <a:off x="4673498" y="283464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of “success” calls are false hope</a:t>
            </a:r>
            <a:endParaRPr lang="en-US" sz="1800" dirty="0"/>
          </a:p>
        </p:txBody>
      </p:sp>
      <p:sp>
        <p:nvSpPr>
          <p:cNvPr id="12" name="Text 9"/>
          <p:cNvSpPr txBox="1"/>
          <p:nvPr/>
        </p:nvSpPr>
        <p:spPr>
          <a:xfrm>
            <a:off x="4673498" y="3520440"/>
            <a:ext cx="284469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18,279 failed campaigns looked promising on paper.</a:t>
            </a:r>
            <a:endParaRPr lang="en-US" sz="1500" dirty="0"/>
          </a:p>
        </p:txBody>
      </p:sp>
      <p:sp>
        <p:nvSpPr>
          <p:cNvPr id="13" name="Card: chances you can trust"/>
          <p:cNvSpPr/>
          <p:nvPr/>
        </p:nvSpPr>
        <p:spPr>
          <a:xfrm>
            <a:off x="8158277" y="1691640"/>
            <a:ext cx="3484778" cy="2926080"/>
          </a:xfrm>
          <a:prstGeom prst="roundRect">
            <a:avLst>
              <a:gd name="adj" fmla="val 3750"/>
            </a:avLst>
          </a:prstGeom>
          <a:solidFill>
            <a:srgbClr val="F2F4F8"/>
          </a:solidFill>
          <a:ln w="12700">
            <a:solidFill>
              <a:srgbClr val="F2F4F8"/>
            </a:solidFill>
            <a:prstDash val="solid"/>
          </a:ln>
        </p:spPr>
      </p:sp>
      <p:sp>
        <p:nvSpPr>
          <p:cNvPr id="14" name="Text 11"/>
          <p:cNvSpPr txBox="1"/>
          <p:nvPr/>
        </p:nvSpPr>
        <p:spPr>
          <a:xfrm>
            <a:off x="8478317" y="1920240"/>
            <a:ext cx="2844698" cy="868680"/>
          </a:xfrm>
          <a:prstGeom prst="rect">
            <a:avLst/>
          </a:prstGeom>
          <a:noFill/>
          <a:ln/>
        </p:spPr>
        <p:txBody>
          <a:bodyPr wrap="square" lIns="0" tIns="0" rIns="0" bIns="0" rtlCol="0" anchor="t"/>
          <a:lstStyle/>
          <a:p>
            <a:pPr indent="0" marL="0">
              <a:buNone/>
            </a:pPr>
            <a:r>
              <a:rPr lang="en-US" sz="5400" b="1" dirty="0">
                <a:solidFill>
                  <a:schemeClr val="accent3"/>
                </a:solidFill>
                <a:latin typeface="Arial" pitchFamily="34" charset="0"/>
                <a:ea typeface="Arial" pitchFamily="34" charset="-122"/>
                <a:cs typeface="Arial" pitchFamily="34" charset="-120"/>
              </a:rPr>
              <a:t>Honest</a:t>
            </a:r>
            <a:endParaRPr lang="en-US" sz="5400" dirty="0"/>
          </a:p>
        </p:txBody>
      </p:sp>
      <p:sp>
        <p:nvSpPr>
          <p:cNvPr id="15" name="Text 12"/>
          <p:cNvSpPr txBox="1"/>
          <p:nvPr/>
        </p:nvSpPr>
        <p:spPr>
          <a:xfrm>
            <a:off x="8478317" y="2834640"/>
            <a:ext cx="2844698" cy="68580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chances you can trust</a:t>
            </a:r>
            <a:endParaRPr lang="en-US" sz="1800" dirty="0"/>
          </a:p>
        </p:txBody>
      </p:sp>
      <p:sp>
        <p:nvSpPr>
          <p:cNvPr id="16" name="Text 13"/>
          <p:cNvSpPr txBox="1"/>
          <p:nvPr/>
        </p:nvSpPr>
        <p:spPr>
          <a:xfrm>
            <a:off x="8478317" y="3520440"/>
            <a:ext cx="2844698" cy="82296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When the model says 60%, about 60 in 100 such campaigns succeed.</a:t>
            </a:r>
            <a:endParaRPr lang="en-US" sz="1500" dirty="0"/>
          </a:p>
        </p:txBody>
      </p:sp>
      <p:sp>
        <p:nvSpPr>
          <p:cNvPr id="17" name="Text 14"/>
          <p:cNvSpPr txBox="1"/>
          <p:nvPr/>
        </p:nvSpPr>
        <p:spPr>
          <a:xfrm>
            <a:off x="548640" y="4937760"/>
            <a:ext cx="11094415" cy="8229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Biggest misses: tiny board game campaigns that failed, and huge tech and food campaigns that succeeded. The reasons (product quality, audience, marketing) are not in the data.</a:t>
            </a:r>
            <a:endParaRPr lang="en-US" sz="1600" dirty="0"/>
          </a:p>
        </p:txBody>
      </p:sp>
      <p:sp>
        <p:nvSpPr>
          <p:cNvPr id="18"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WHAT THE MODEL LOOKS AT</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Category and goal drive the prediction</a:t>
            </a:r>
            <a:endParaRPr lang="en-US" sz="3400" dirty="0"/>
          </a:p>
        </p:txBody>
      </p:sp>
      <p:graphicFrame>
        <p:nvGraphicFramePr>
          <p:cNvPr id="5" name="Feature importance" descr=""/>
          <p:cNvGraphicFramePr/>
          <p:nvPr/>
        </p:nvGraphicFramePr>
        <p:xfrm>
          <a:off x="548640" y="1600200"/>
          <a:ext cx="7589520" cy="4389120"/>
        </p:xfrm>
        <a:graphic xmlns:a="http://schemas.openxmlformats.org/drawingml/2006/main">
          <a:graphicData uri="http://schemas.openxmlformats.org/drawingml/2006/chart">
            <c:chart xmlns:c="http://schemas.openxmlformats.org/drawingml/2006/chart" r:id="rId1"/>
          </a:graphicData>
        </a:graphic>
      </p:graphicFrame>
      <p:sp>
        <p:nvSpPr>
          <p:cNvPr id="6" name="Card: how to read"/>
          <p:cNvSpPr/>
          <p:nvPr/>
        </p:nvSpPr>
        <p:spPr>
          <a:xfrm>
            <a:off x="8503920" y="1828800"/>
            <a:ext cx="3139135" cy="3108960"/>
          </a:xfrm>
          <a:prstGeom prst="roundRect">
            <a:avLst>
              <a:gd name="adj" fmla="val 3529"/>
            </a:avLst>
          </a:prstGeom>
          <a:solidFill>
            <a:srgbClr val="F2F4F8"/>
          </a:solidFill>
          <a:ln w="12700">
            <a:solidFill>
              <a:srgbClr val="F2F4F8"/>
            </a:solidFill>
            <a:prstDash val="solid"/>
          </a:ln>
        </p:spPr>
      </p:sp>
      <p:sp>
        <p:nvSpPr>
          <p:cNvPr id="7" name="Text 3"/>
          <p:cNvSpPr txBox="1"/>
          <p:nvPr/>
        </p:nvSpPr>
        <p:spPr>
          <a:xfrm>
            <a:off x="8823960" y="2103120"/>
            <a:ext cx="2499055" cy="4572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How to read it</a:t>
            </a:r>
            <a:endParaRPr lang="en-US" sz="2000" dirty="0"/>
          </a:p>
        </p:txBody>
      </p:sp>
      <p:sp>
        <p:nvSpPr>
          <p:cNvPr id="8" name="Text 4"/>
          <p:cNvSpPr txBox="1"/>
          <p:nvPr/>
        </p:nvSpPr>
        <p:spPr>
          <a:xfrm>
            <a:off x="8823960" y="2606040"/>
            <a:ext cx="2499055" cy="210312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We scrambled one piece of information at a time and measured how much worse the model got. The most important one is set to 100.</a:t>
            </a:r>
            <a:endParaRPr lang="en-US" sz="1600" dirty="0"/>
          </a:p>
        </p:txBody>
      </p:sp>
      <p:sp>
        <p:nvSpPr>
          <p:cNvPr id="9"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Permutation importance on the test set, scaled so the top feature = 100</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rgbClr val="CDE2FB"/>
                </a:solidFill>
              </a:rPr>
              <a:t>RECOMMENDATIONS FOR CREATORS</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bg1"/>
                </a:solidFill>
              </a:rPr>
              <a:t>Three things to decide before launch</a:t>
            </a:r>
            <a:endParaRPr lang="en-US" sz="3400" dirty="0"/>
          </a:p>
        </p:txBody>
      </p:sp>
      <p:sp>
        <p:nvSpPr>
          <p:cNvPr id="5" name="Recommendation 1"/>
          <p:cNvSpPr/>
          <p:nvPr/>
        </p:nvSpPr>
        <p:spPr>
          <a:xfrm>
            <a:off x="548640" y="1828800"/>
            <a:ext cx="3484778" cy="3291840"/>
          </a:xfrm>
          <a:prstGeom prst="roundRect">
            <a:avLst>
              <a:gd name="adj" fmla="val 3333"/>
            </a:avLst>
          </a:prstGeom>
          <a:solidFill>
            <a:srgbClr val="174E93"/>
          </a:solidFill>
          <a:ln w="12700">
            <a:solidFill>
              <a:srgbClr val="174E93"/>
            </a:solidFill>
            <a:prstDash val="solid"/>
          </a:ln>
        </p:spPr>
      </p:sp>
      <p:sp>
        <p:nvSpPr>
          <p:cNvPr id="6" name="Recommendation number 1"/>
          <p:cNvSpPr/>
          <p:nvPr/>
        </p:nvSpPr>
        <p:spPr>
          <a:xfrm>
            <a:off x="914400" y="2148840"/>
            <a:ext cx="731520" cy="731520"/>
          </a:xfrm>
          <a:prstGeom prst="ellipse">
            <a:avLst/>
          </a:prstGeom>
          <a:solidFill>
            <a:srgbClr val="FFFFFF"/>
          </a:solidFill>
          <a:ln w="12700">
            <a:solidFill>
              <a:srgbClr val="FFFFFF"/>
            </a:solidFill>
            <a:prstDash val="solid"/>
          </a:ln>
        </p:spPr>
      </p:sp>
      <p:sp>
        <p:nvSpPr>
          <p:cNvPr id="7" name="Text 4"/>
          <p:cNvSpPr txBox="1"/>
          <p:nvPr/>
        </p:nvSpPr>
        <p:spPr>
          <a:xfrm>
            <a:off x="914400" y="214884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latin typeface="Calibri" pitchFamily="34" charset="0"/>
                <a:ea typeface="Calibri" pitchFamily="34" charset="-122"/>
                <a:cs typeface="Calibri" pitchFamily="34" charset="-120"/>
              </a:rPr>
              <a:t>1</a:t>
            </a:r>
            <a:endParaRPr lang="en-US" sz="2800" dirty="0"/>
          </a:p>
        </p:txBody>
      </p:sp>
      <p:sp>
        <p:nvSpPr>
          <p:cNvPr id="8" name="Text 5"/>
          <p:cNvSpPr txBox="1"/>
          <p:nvPr/>
        </p:nvSpPr>
        <p:spPr>
          <a:xfrm>
            <a:off x="914400" y="3154680"/>
            <a:ext cx="2753258" cy="54864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Ask for less</a:t>
            </a:r>
            <a:endParaRPr lang="en-US" sz="2400" dirty="0"/>
          </a:p>
        </p:txBody>
      </p:sp>
      <p:sp>
        <p:nvSpPr>
          <p:cNvPr id="9" name="Text 6"/>
          <p:cNvSpPr txBox="1"/>
          <p:nvPr/>
        </p:nvSpPr>
        <p:spPr>
          <a:xfrm>
            <a:off x="914400" y="3749040"/>
            <a:ext cx="2753258" cy="1188720"/>
          </a:xfrm>
          <a:prstGeom prst="rect">
            <a:avLst/>
          </a:prstGeom>
          <a:noFill/>
          <a:ln/>
        </p:spPr>
        <p:txBody>
          <a:bodyPr wrap="square" lIns="0" tIns="0" rIns="0" bIns="0" rtlCol="0" anchor="t"/>
          <a:lstStyle/>
          <a:p>
            <a:pPr indent="0" marL="0">
              <a:buNone/>
            </a:pPr>
            <a:r>
              <a:rPr lang="en-US" sz="1600" dirty="0">
                <a:solidFill>
                  <a:srgbClr val="DCE7F7"/>
                </a:solidFill>
                <a:latin typeface="Calibri" pitchFamily="34" charset="0"/>
                <a:ea typeface="Calibri" pitchFamily="34" charset="-122"/>
                <a:cs typeface="Calibri" pitchFamily="34" charset="-120"/>
              </a:rPr>
              <a:t>Set the lowest goal that really funds the project. Add extras as stretch goals.</a:t>
            </a:r>
            <a:endParaRPr lang="en-US" sz="1600" dirty="0"/>
          </a:p>
        </p:txBody>
      </p:sp>
      <p:sp>
        <p:nvSpPr>
          <p:cNvPr id="10" name="Recommendation 2"/>
          <p:cNvSpPr/>
          <p:nvPr/>
        </p:nvSpPr>
        <p:spPr>
          <a:xfrm>
            <a:off x="4353458" y="1828800"/>
            <a:ext cx="3484778" cy="3291840"/>
          </a:xfrm>
          <a:prstGeom prst="roundRect">
            <a:avLst>
              <a:gd name="adj" fmla="val 3333"/>
            </a:avLst>
          </a:prstGeom>
          <a:solidFill>
            <a:srgbClr val="174E93"/>
          </a:solidFill>
          <a:ln w="12700">
            <a:solidFill>
              <a:srgbClr val="174E93"/>
            </a:solidFill>
            <a:prstDash val="solid"/>
          </a:ln>
        </p:spPr>
      </p:sp>
      <p:sp>
        <p:nvSpPr>
          <p:cNvPr id="11" name="Recommendation number 2"/>
          <p:cNvSpPr/>
          <p:nvPr/>
        </p:nvSpPr>
        <p:spPr>
          <a:xfrm>
            <a:off x="4719218" y="2148840"/>
            <a:ext cx="731520" cy="731520"/>
          </a:xfrm>
          <a:prstGeom prst="ellipse">
            <a:avLst/>
          </a:prstGeom>
          <a:solidFill>
            <a:srgbClr val="FFFFFF"/>
          </a:solidFill>
          <a:ln w="12700">
            <a:solidFill>
              <a:srgbClr val="FFFFFF"/>
            </a:solidFill>
            <a:prstDash val="solid"/>
          </a:ln>
        </p:spPr>
      </p:sp>
      <p:sp>
        <p:nvSpPr>
          <p:cNvPr id="12" name="Text 9"/>
          <p:cNvSpPr txBox="1"/>
          <p:nvPr/>
        </p:nvSpPr>
        <p:spPr>
          <a:xfrm>
            <a:off x="4719218" y="214884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latin typeface="Calibri" pitchFamily="34" charset="0"/>
                <a:ea typeface="Calibri" pitchFamily="34" charset="-122"/>
                <a:cs typeface="Calibri" pitchFamily="34" charset="-120"/>
              </a:rPr>
              <a:t>2</a:t>
            </a:r>
            <a:endParaRPr lang="en-US" sz="2800" dirty="0"/>
          </a:p>
        </p:txBody>
      </p:sp>
      <p:sp>
        <p:nvSpPr>
          <p:cNvPr id="13" name="Text 10"/>
          <p:cNvSpPr txBox="1"/>
          <p:nvPr/>
        </p:nvSpPr>
        <p:spPr>
          <a:xfrm>
            <a:off x="4719218" y="3154680"/>
            <a:ext cx="2753258" cy="54864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Plan the length</a:t>
            </a:r>
            <a:endParaRPr lang="en-US" sz="2400" dirty="0"/>
          </a:p>
        </p:txBody>
      </p:sp>
      <p:sp>
        <p:nvSpPr>
          <p:cNvPr id="14" name="Text 11"/>
          <p:cNvSpPr txBox="1"/>
          <p:nvPr/>
        </p:nvSpPr>
        <p:spPr>
          <a:xfrm>
            <a:off x="4719218" y="3749040"/>
            <a:ext cx="2753258" cy="1188720"/>
          </a:xfrm>
          <a:prstGeom prst="rect">
            <a:avLst/>
          </a:prstGeom>
          <a:noFill/>
          <a:ln/>
        </p:spPr>
        <p:txBody>
          <a:bodyPr wrap="square" lIns="0" tIns="0" rIns="0" bIns="0" rtlCol="0" anchor="t"/>
          <a:lstStyle/>
          <a:p>
            <a:pPr indent="0" marL="0">
              <a:buNone/>
            </a:pPr>
            <a:r>
              <a:rPr lang="en-US" sz="1600" dirty="0">
                <a:solidFill>
                  <a:srgbClr val="DCE7F7"/>
                </a:solidFill>
                <a:latin typeface="Calibri" pitchFamily="34" charset="0"/>
                <a:ea typeface="Calibri" pitchFamily="34" charset="-122"/>
                <a:cs typeface="Calibri" pitchFamily="34" charset="-120"/>
              </a:rPr>
              <a:t>Don’t just keep the 30-day default, and avoid 60-day campaigns.</a:t>
            </a:r>
            <a:endParaRPr lang="en-US" sz="1600" dirty="0"/>
          </a:p>
        </p:txBody>
      </p:sp>
      <p:sp>
        <p:nvSpPr>
          <p:cNvPr id="15" name="Recommendation 3"/>
          <p:cNvSpPr/>
          <p:nvPr/>
        </p:nvSpPr>
        <p:spPr>
          <a:xfrm>
            <a:off x="8158277" y="1828800"/>
            <a:ext cx="3484778" cy="3291840"/>
          </a:xfrm>
          <a:prstGeom prst="roundRect">
            <a:avLst>
              <a:gd name="adj" fmla="val 3333"/>
            </a:avLst>
          </a:prstGeom>
          <a:solidFill>
            <a:srgbClr val="174E93"/>
          </a:solidFill>
          <a:ln w="12700">
            <a:solidFill>
              <a:srgbClr val="174E93"/>
            </a:solidFill>
            <a:prstDash val="solid"/>
          </a:ln>
        </p:spPr>
      </p:sp>
      <p:sp>
        <p:nvSpPr>
          <p:cNvPr id="16" name="Recommendation number 3"/>
          <p:cNvSpPr/>
          <p:nvPr/>
        </p:nvSpPr>
        <p:spPr>
          <a:xfrm>
            <a:off x="8524037" y="2148840"/>
            <a:ext cx="731520" cy="731520"/>
          </a:xfrm>
          <a:prstGeom prst="ellipse">
            <a:avLst/>
          </a:prstGeom>
          <a:solidFill>
            <a:srgbClr val="FFFFFF"/>
          </a:solidFill>
          <a:ln w="12700">
            <a:solidFill>
              <a:srgbClr val="FFFFFF"/>
            </a:solidFill>
            <a:prstDash val="solid"/>
          </a:ln>
        </p:spPr>
      </p:sp>
      <p:sp>
        <p:nvSpPr>
          <p:cNvPr id="17" name="Text 14"/>
          <p:cNvSpPr txBox="1"/>
          <p:nvPr/>
        </p:nvSpPr>
        <p:spPr>
          <a:xfrm>
            <a:off x="8524037" y="2148840"/>
            <a:ext cx="731520" cy="731520"/>
          </a:xfrm>
          <a:prstGeom prst="rect">
            <a:avLst/>
          </a:prstGeom>
          <a:noFill/>
          <a:ln/>
        </p:spPr>
        <p:txBody>
          <a:bodyPr wrap="square" lIns="0" tIns="0" rIns="0" bIns="0" rtlCol="0" anchor="ctr"/>
          <a:lstStyle/>
          <a:p>
            <a:pPr algn="ctr" indent="0" marL="0">
              <a:buNone/>
            </a:pPr>
            <a:r>
              <a:rPr lang="en-US" sz="2800" b="1" dirty="0">
                <a:solidFill>
                  <a:schemeClr val="accent3"/>
                </a:solidFill>
                <a:latin typeface="Calibri" pitchFamily="34" charset="0"/>
                <a:ea typeface="Calibri" pitchFamily="34" charset="-122"/>
                <a:cs typeface="Calibri" pitchFamily="34" charset="-120"/>
              </a:rPr>
              <a:t>3</a:t>
            </a:r>
            <a:endParaRPr lang="en-US" sz="2800" dirty="0"/>
          </a:p>
        </p:txBody>
      </p:sp>
      <p:sp>
        <p:nvSpPr>
          <p:cNvPr id="18" name="Text 15"/>
          <p:cNvSpPr txBox="1"/>
          <p:nvPr/>
        </p:nvSpPr>
        <p:spPr>
          <a:xfrm>
            <a:off x="8524037" y="3154680"/>
            <a:ext cx="2753258" cy="548640"/>
          </a:xfrm>
          <a:prstGeom prst="rect">
            <a:avLst/>
          </a:prstGeom>
          <a:noFill/>
          <a:ln/>
        </p:spPr>
        <p:txBody>
          <a:bodyPr wrap="square" lIns="0" tIns="0" rIns="0" bIns="0" rtlCol="0" anchor="ctr"/>
          <a:lstStyle/>
          <a:p>
            <a:pPr indent="0" marL="0">
              <a:buNone/>
            </a:pPr>
            <a:r>
              <a:rPr lang="en-US" sz="2400" b="1" dirty="0">
                <a:solidFill>
                  <a:schemeClr val="bg1"/>
                </a:solidFill>
                <a:latin typeface="Calibri" pitchFamily="34" charset="0"/>
                <a:ea typeface="Calibri" pitchFamily="34" charset="-122"/>
                <a:cs typeface="Calibri" pitchFamily="34" charset="-120"/>
              </a:rPr>
              <a:t>Know your category</a:t>
            </a:r>
            <a:endParaRPr lang="en-US" sz="2400" dirty="0"/>
          </a:p>
        </p:txBody>
      </p:sp>
      <p:sp>
        <p:nvSpPr>
          <p:cNvPr id="19" name="Text 16"/>
          <p:cNvSpPr txBox="1"/>
          <p:nvPr/>
        </p:nvSpPr>
        <p:spPr>
          <a:xfrm>
            <a:off x="8524037" y="3749040"/>
            <a:ext cx="2753258" cy="1188720"/>
          </a:xfrm>
          <a:prstGeom prst="rect">
            <a:avLst/>
          </a:prstGeom>
          <a:noFill/>
          <a:ln/>
        </p:spPr>
        <p:txBody>
          <a:bodyPr wrap="square" lIns="0" tIns="0" rIns="0" bIns="0" rtlCol="0" anchor="t"/>
          <a:lstStyle/>
          <a:p>
            <a:pPr indent="0" marL="0">
              <a:buNone/>
            </a:pPr>
            <a:r>
              <a:rPr lang="en-US" sz="1600" dirty="0">
                <a:solidFill>
                  <a:srgbClr val="DCE7F7"/>
                </a:solidFill>
                <a:latin typeface="Calibri" pitchFamily="34" charset="0"/>
                <a:ea typeface="Calibri" pitchFamily="34" charset="-122"/>
                <a:cs typeface="Calibri" pitchFamily="34" charset="-120"/>
              </a:rPr>
              <a:t>In Technology, Food or Fashion, build an audience before you launch.</a:t>
            </a:r>
            <a:endParaRPr lang="en-US" sz="1600" dirty="0"/>
          </a:p>
        </p:txBody>
      </p:sp>
      <p:sp>
        <p:nvSpPr>
          <p:cNvPr id="20" name="Text 17"/>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1600" i="1" dirty="0">
                <a:solidFill>
                  <a:srgbClr val="DCE7F7"/>
                </a:solidFill>
                <a:latin typeface="Calibri" pitchFamily="34" charset="0"/>
                <a:ea typeface="Calibri" pitchFamily="34" charset="-122"/>
                <a:cs typeface="Calibri" pitchFamily="34" charset="-120"/>
              </a:rPr>
              <a:t>Patterns from past campaigns, not guarantees.</a:t>
            </a:r>
            <a:endParaRPr lang="en-US" sz="1600" dirty="0"/>
          </a:p>
        </p:txBody>
      </p:sp>
      <p:sp>
        <p:nvSpPr>
          <p:cNvPr id="21"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CE7F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DATA PRODUCT</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The Campaign Checker</a:t>
            </a:r>
            <a:endParaRPr lang="en-US" sz="3400" dirty="0"/>
          </a:p>
        </p:txBody>
      </p:sp>
      <p:sp>
        <p:nvSpPr>
          <p:cNvPr id="5" name="Text 2"/>
          <p:cNvSpPr txBox="1"/>
          <p:nvPr/>
        </p:nvSpPr>
        <p:spPr>
          <a:xfrm>
            <a:off x="548640" y="1600200"/>
            <a:ext cx="6583680" cy="41148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Example: a US board game. Predicted chance of success:</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583680" cy="914400"/>
        </p:xfrm>
        <a:graphic>
          <a:graphicData uri="http://schemas.openxmlformats.org/drawingml/2006/table">
            <a:tbl>
              <a:tblPr/>
              <a:tblGrid>
                <a:gridCol w="1463040"/>
                <a:gridCol w="1280160"/>
                <a:gridCol w="1280160"/>
                <a:gridCol w="1280160"/>
                <a:gridCol w="1280160"/>
              </a:tblGrid>
              <a:tr h="566928">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Goal</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solidFill>
                      <a:srgbClr val="14213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21 days</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solidFill>
                      <a:srgbClr val="14213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30 days</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solidFill>
                      <a:srgbClr val="14213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45 days</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solidFill>
                      <a:srgbClr val="14213D"/>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60 days</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solidFill>
                      <a:srgbClr val="14213D"/>
                    </a:solidFill>
                  </a:tcPr>
                </a:tc>
              </a:tr>
              <a:tr h="566928">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$5,000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93%</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80%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70%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52%</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r>
              <a:tr h="566928">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$10,000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92%</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77%</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66%</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47%</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r>
              <a:tr h="566928">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$20,000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88%</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69%</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63%</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37%</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r>
              <a:tr h="566928">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$50,000</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83%</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62%</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dirty="0">
                          <a:solidFill>
                            <a:srgbClr val="14213D"/>
                          </a:solidFill>
                          <a:latin typeface="Calibri" pitchFamily="34" charset="0"/>
                          <a:ea typeface="Calibri" pitchFamily="34" charset="-122"/>
                          <a:cs typeface="Calibri" pitchFamily="34" charset="-120"/>
                        </a:rPr>
                        <a:t>56%</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c>
                  <a:txBody>
                    <a:bodyPr/>
                    <a:lstStyle/>
                    <a:p>
                      <a:pPr algn="ctr" indent="0" marL="0">
                        <a:buNone/>
                      </a:pPr>
                      <a:r>
                        <a:rPr lang="en-US" sz="1800" b="1" dirty="0">
                          <a:solidFill>
                            <a:srgbClr val="14213D"/>
                          </a:solidFill>
                          <a:latin typeface="Calibri" pitchFamily="34" charset="0"/>
                          <a:ea typeface="Calibri" pitchFamily="34" charset="-122"/>
                          <a:cs typeface="Calibri" pitchFamily="34" charset="-120"/>
                        </a:rPr>
                        <a:t>27%</a:t>
                      </a:r>
                      <a:endParaRPr lang="en-US" sz="1800" dirty="0">
                        <a:latin typeface="Calibri" charset="0"/>
                        <a:ea typeface="Calibri" charset="0"/>
                        <a:cs typeface="Calibri" charset="0"/>
                      </a:endParaRPr>
                    </a:p>
                  </a:txBody>
                  <a:tcPr marL="91440" marR="91440" marT="45720" marB="45720" anchor="ctr">
                    <a:lnL w="12700" cap="flat" cmpd="sng" algn="ctr">
                      <a:solidFill>
                        <a:srgbClr val="D9DDE4"/>
                      </a:solidFill>
                      <a:prstDash val="solid"/>
                      <a:round/>
                      <a:headEnd type="none" w="med" len="med"/>
                      <a:tailEnd type="none" w="med" len="med"/>
                    </a:lnL>
                    <a:lnR w="12700" cap="flat" cmpd="sng" algn="ctr">
                      <a:solidFill>
                        <a:srgbClr val="D9DDE4"/>
                      </a:solidFill>
                      <a:prstDash val="solid"/>
                      <a:round/>
                      <a:headEnd type="none" w="med" len="med"/>
                      <a:tailEnd type="none" w="med" len="med"/>
                    </a:lnR>
                    <a:lnT w="12700" cap="flat" cmpd="sng" algn="ctr">
                      <a:solidFill>
                        <a:srgbClr val="D9DDE4"/>
                      </a:solidFill>
                      <a:prstDash val="solid"/>
                      <a:round/>
                      <a:headEnd type="none" w="med" len="med"/>
                      <a:tailEnd type="none" w="med" len="med"/>
                    </a:lnT>
                    <a:lnB w="12700" cap="flat" cmpd="sng" algn="ctr">
                      <a:solidFill>
                        <a:srgbClr val="D9DDE4"/>
                      </a:solidFill>
                      <a:prstDash val="solid"/>
                      <a:round/>
                      <a:headEnd type="none" w="med" len="med"/>
                      <a:tailEnd type="none" w="med" len="med"/>
                    </a:lnB>
                  </a:tcPr>
                </a:tc>
              </a:tr>
            </a:tbl>
          </a:graphicData>
        </a:graphic>
      </p:graphicFrame>
      <p:sp>
        <p:nvSpPr>
          <p:cNvPr id="7" name="Text 3"/>
          <p:cNvSpPr txBox="1"/>
          <p:nvPr/>
        </p:nvSpPr>
        <p:spPr>
          <a:xfrm>
            <a:off x="548640" y="5120640"/>
            <a:ext cx="6583680" cy="64008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Similar campaigns with bigger goals or 60-day runs succeeded less often. Patterns, not promises.</a:t>
            </a:r>
            <a:endParaRPr lang="en-US" sz="1500" dirty="0"/>
          </a:p>
        </p:txBody>
      </p:sp>
      <p:sp>
        <p:nvSpPr>
          <p:cNvPr id="8" name="Product step 1"/>
          <p:cNvSpPr/>
          <p:nvPr/>
        </p:nvSpPr>
        <p:spPr>
          <a:xfrm>
            <a:off x="7680960" y="1691640"/>
            <a:ext cx="3962095" cy="1188720"/>
          </a:xfrm>
          <a:prstGeom prst="roundRect">
            <a:avLst>
              <a:gd name="adj" fmla="val 9231"/>
            </a:avLst>
          </a:prstGeom>
          <a:solidFill>
            <a:srgbClr val="F2F4F8"/>
          </a:solidFill>
          <a:ln w="12700">
            <a:solidFill>
              <a:srgbClr val="F2F4F8"/>
            </a:solidFill>
            <a:prstDash val="solid"/>
          </a:ln>
        </p:spPr>
      </p:sp>
      <p:sp>
        <p:nvSpPr>
          <p:cNvPr id="9" name="Product step number 1"/>
          <p:cNvSpPr/>
          <p:nvPr/>
        </p:nvSpPr>
        <p:spPr>
          <a:xfrm>
            <a:off x="7955280" y="2011680"/>
            <a:ext cx="548640" cy="548640"/>
          </a:xfrm>
          <a:prstGeom prst="ellipse">
            <a:avLst/>
          </a:prstGeom>
          <a:solidFill>
            <a:srgbClr val="2A78D6"/>
          </a:solidFill>
          <a:ln w="12700">
            <a:solidFill>
              <a:srgbClr val="2A78D6"/>
            </a:solidFill>
            <a:prstDash val="solid"/>
          </a:ln>
        </p:spPr>
      </p:sp>
      <p:sp>
        <p:nvSpPr>
          <p:cNvPr id="10" name="Text 6"/>
          <p:cNvSpPr txBox="1"/>
          <p:nvPr/>
        </p:nvSpPr>
        <p:spPr>
          <a:xfrm>
            <a:off x="7955280" y="20116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11" name="Text 7"/>
          <p:cNvSpPr txBox="1"/>
          <p:nvPr/>
        </p:nvSpPr>
        <p:spPr>
          <a:xfrm>
            <a:off x="8686800" y="1874520"/>
            <a:ext cx="2773375"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Enter the plan</a:t>
            </a:r>
            <a:endParaRPr lang="en-US" sz="1800" dirty="0"/>
          </a:p>
        </p:txBody>
      </p:sp>
      <p:sp>
        <p:nvSpPr>
          <p:cNvPr id="12" name="Text 8"/>
          <p:cNvSpPr txBox="1"/>
          <p:nvPr/>
        </p:nvSpPr>
        <p:spPr>
          <a:xfrm>
            <a:off x="8686800" y="2286000"/>
            <a:ext cx="277337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Category, goal, length, launch date, title</a:t>
            </a:r>
            <a:endParaRPr lang="en-US" sz="1400" dirty="0"/>
          </a:p>
        </p:txBody>
      </p:sp>
      <p:sp>
        <p:nvSpPr>
          <p:cNvPr id="13" name="Product step 2"/>
          <p:cNvSpPr/>
          <p:nvPr/>
        </p:nvSpPr>
        <p:spPr>
          <a:xfrm>
            <a:off x="7680960" y="3063240"/>
            <a:ext cx="3962095" cy="1188720"/>
          </a:xfrm>
          <a:prstGeom prst="roundRect">
            <a:avLst>
              <a:gd name="adj" fmla="val 9231"/>
            </a:avLst>
          </a:prstGeom>
          <a:solidFill>
            <a:srgbClr val="F2F4F8"/>
          </a:solidFill>
          <a:ln w="12700">
            <a:solidFill>
              <a:srgbClr val="F2F4F8"/>
            </a:solidFill>
            <a:prstDash val="solid"/>
          </a:ln>
        </p:spPr>
      </p:sp>
      <p:sp>
        <p:nvSpPr>
          <p:cNvPr id="14" name="Product step number 2"/>
          <p:cNvSpPr/>
          <p:nvPr/>
        </p:nvSpPr>
        <p:spPr>
          <a:xfrm>
            <a:off x="7955280" y="3383280"/>
            <a:ext cx="548640" cy="548640"/>
          </a:xfrm>
          <a:prstGeom prst="ellipse">
            <a:avLst/>
          </a:prstGeom>
          <a:solidFill>
            <a:srgbClr val="2A78D6"/>
          </a:solidFill>
          <a:ln w="12700">
            <a:solidFill>
              <a:srgbClr val="2A78D6"/>
            </a:solidFill>
            <a:prstDash val="solid"/>
          </a:ln>
        </p:spPr>
      </p:sp>
      <p:sp>
        <p:nvSpPr>
          <p:cNvPr id="15" name="Text 11"/>
          <p:cNvSpPr txBox="1"/>
          <p:nvPr/>
        </p:nvSpPr>
        <p:spPr>
          <a:xfrm>
            <a:off x="7955280" y="33832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16" name="Text 12"/>
          <p:cNvSpPr txBox="1"/>
          <p:nvPr/>
        </p:nvSpPr>
        <p:spPr>
          <a:xfrm>
            <a:off x="8686800" y="3246120"/>
            <a:ext cx="2773375"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Get the chance</a:t>
            </a:r>
            <a:endParaRPr lang="en-US" sz="1800" dirty="0"/>
          </a:p>
        </p:txBody>
      </p:sp>
      <p:sp>
        <p:nvSpPr>
          <p:cNvPr id="17" name="Text 13"/>
          <p:cNvSpPr txBox="1"/>
          <p:nvPr/>
        </p:nvSpPr>
        <p:spPr>
          <a:xfrm>
            <a:off x="8686800" y="3657600"/>
            <a:ext cx="277337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An honest probability, compared with similar campaigns</a:t>
            </a:r>
            <a:endParaRPr lang="en-US" sz="1400" dirty="0"/>
          </a:p>
        </p:txBody>
      </p:sp>
      <p:sp>
        <p:nvSpPr>
          <p:cNvPr id="18" name="Product step 3"/>
          <p:cNvSpPr/>
          <p:nvPr/>
        </p:nvSpPr>
        <p:spPr>
          <a:xfrm>
            <a:off x="7680960" y="4434840"/>
            <a:ext cx="3962095" cy="1188720"/>
          </a:xfrm>
          <a:prstGeom prst="roundRect">
            <a:avLst>
              <a:gd name="adj" fmla="val 9231"/>
            </a:avLst>
          </a:prstGeom>
          <a:solidFill>
            <a:srgbClr val="F2F4F8"/>
          </a:solidFill>
          <a:ln w="12700">
            <a:solidFill>
              <a:srgbClr val="F2F4F8"/>
            </a:solidFill>
            <a:prstDash val="solid"/>
          </a:ln>
        </p:spPr>
      </p:sp>
      <p:sp>
        <p:nvSpPr>
          <p:cNvPr id="19" name="Product step number 3"/>
          <p:cNvSpPr/>
          <p:nvPr/>
        </p:nvSpPr>
        <p:spPr>
          <a:xfrm>
            <a:off x="7955280" y="4754880"/>
            <a:ext cx="548640" cy="548640"/>
          </a:xfrm>
          <a:prstGeom prst="ellipse">
            <a:avLst/>
          </a:prstGeom>
          <a:solidFill>
            <a:srgbClr val="2A78D6"/>
          </a:solidFill>
          <a:ln w="12700">
            <a:solidFill>
              <a:srgbClr val="2A78D6"/>
            </a:solidFill>
            <a:prstDash val="solid"/>
          </a:ln>
        </p:spPr>
      </p:sp>
      <p:sp>
        <p:nvSpPr>
          <p:cNvPr id="20" name="Text 16"/>
          <p:cNvSpPr txBox="1"/>
          <p:nvPr/>
        </p:nvSpPr>
        <p:spPr>
          <a:xfrm>
            <a:off x="7955280" y="47548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21" name="Text 17"/>
          <p:cNvSpPr txBox="1"/>
          <p:nvPr/>
        </p:nvSpPr>
        <p:spPr>
          <a:xfrm>
            <a:off x="8686800" y="4617720"/>
            <a:ext cx="2773375" cy="4114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Try “what if”</a:t>
            </a:r>
            <a:endParaRPr lang="en-US" sz="1800" dirty="0"/>
          </a:p>
        </p:txBody>
      </p:sp>
      <p:sp>
        <p:nvSpPr>
          <p:cNvPr id="22" name="Text 18"/>
          <p:cNvSpPr txBox="1"/>
          <p:nvPr/>
        </p:nvSpPr>
        <p:spPr>
          <a:xfrm>
            <a:off x="8686800" y="5029200"/>
            <a:ext cx="2773375" cy="5029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See how similar campaigns with a lower goal or another length did</a:t>
            </a:r>
            <a:endParaRPr lang="en-US" sz="1400" dirty="0"/>
          </a:p>
        </p:txBody>
      </p:sp>
      <p:sp>
        <p:nvSpPr>
          <p:cNvPr id="23"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r>
              <a:rPr lang="en-US" sz="1100" dirty="0">
                <a:solidFill>
                  <a:srgbClr val="5B6472"/>
                </a:solidFill>
              </a:rPr>
              <a:t>Model estimates; patterns from past campaigns, not promises</a:t>
            </a: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body" hasCustomPrompt="1"/>
          </p:nvPr>
        </p:nvSpPr>
        <p:spPr>
          <a:xfrm>
            <a:off x="548640" y="365760"/>
            <a:ext cx="11094415" cy="320040"/>
          </a:xfrm>
          <a:prstGeom prst="rect">
            <a:avLst/>
          </a:prstGeom>
          <a:noFill/>
          <a:ln/>
        </p:spPr>
        <p:txBody>
          <a:bodyPr wrap="square" lIns="0" tIns="0" rIns="0" bIns="0" rtlCol="0"/>
          <a:lstStyle/>
          <a:p>
            <a:pPr indent="0" marL="0">
              <a:buNone/>
            </a:pPr>
            <a:r>
              <a:rPr lang="en-US" sz="1200" b="1" spc="200" kern="0" dirty="0">
                <a:solidFill>
                  <a:schemeClr val="accent3"/>
                </a:solidFill>
              </a:rPr>
              <a:t>BEING HONEST</a:t>
            </a:r>
            <a:endParaRPr lang="en-US" sz="1200" dirty="0"/>
          </a:p>
        </p:txBody>
      </p:sp>
      <p:sp>
        <p:nvSpPr>
          <p:cNvPr id="4" name="Text 0"/>
          <p:cNvSpPr/>
          <p:nvPr>
            <p:ph idx="101" type="title" hasCustomPrompt="1"/>
          </p:nvPr>
        </p:nvSpPr>
        <p:spPr>
          <a:xfrm>
            <a:off x="548640" y="685800"/>
            <a:ext cx="11094415" cy="731520"/>
          </a:xfrm>
          <a:prstGeom prst="rect">
            <a:avLst/>
          </a:prstGeom>
          <a:noFill/>
          <a:ln/>
        </p:spPr>
        <p:txBody>
          <a:bodyPr wrap="square" lIns="0" tIns="0" rIns="0" bIns="0" rtlCol="0" anchor="t"/>
          <a:lstStyle/>
          <a:p>
            <a:pPr algn="l" indent="0" marL="0">
              <a:buNone/>
            </a:pPr>
            <a:r>
              <a:rPr lang="en-US" sz="3400" b="1" dirty="0">
                <a:solidFill>
                  <a:schemeClr val="tx1"/>
                </a:solidFill>
              </a:rPr>
              <a:t>Limits and next steps</a:t>
            </a:r>
            <a:endParaRPr lang="en-US" sz="3400" dirty="0"/>
          </a:p>
        </p:txBody>
      </p:sp>
      <p:sp>
        <p:nvSpPr>
          <p:cNvPr id="5" name="Card: What the model can’t do"/>
          <p:cNvSpPr/>
          <p:nvPr/>
        </p:nvSpPr>
        <p:spPr>
          <a:xfrm>
            <a:off x="548640" y="1691640"/>
            <a:ext cx="5364328" cy="4023360"/>
          </a:xfrm>
          <a:prstGeom prst="roundRect">
            <a:avLst>
              <a:gd name="adj" fmla="val 2727"/>
            </a:avLst>
          </a:prstGeom>
          <a:solidFill>
            <a:srgbClr val="F2F4F8"/>
          </a:solidFill>
          <a:ln w="12700">
            <a:solidFill>
              <a:srgbClr val="F2F4F8"/>
            </a:solidFill>
            <a:prstDash val="solid"/>
          </a:ln>
        </p:spPr>
      </p:sp>
      <p:sp>
        <p:nvSpPr>
          <p:cNvPr id="6" name="Text 3"/>
          <p:cNvSpPr txBox="1"/>
          <p:nvPr/>
        </p:nvSpPr>
        <p:spPr>
          <a:xfrm>
            <a:off x="914400" y="1965960"/>
            <a:ext cx="4632808" cy="502920"/>
          </a:xfrm>
          <a:prstGeom prst="rect">
            <a:avLst/>
          </a:prstGeom>
          <a:noFill/>
          <a:ln/>
        </p:spPr>
        <p:txBody>
          <a:bodyPr wrap="square" lIns="0" tIns="0" rIns="0" bIns="0" rtlCol="0" anchor="ctr"/>
          <a:lstStyle/>
          <a:p>
            <a:pPr indent="0" marL="0">
              <a:buNone/>
            </a:pPr>
            <a:r>
              <a:rPr lang="en-US" sz="2200" b="1" dirty="0">
                <a:solidFill>
                  <a:schemeClr val="accent4"/>
                </a:solidFill>
                <a:latin typeface="Calibri" pitchFamily="34" charset="0"/>
                <a:ea typeface="Calibri" pitchFamily="34" charset="-122"/>
                <a:cs typeface="Calibri" pitchFamily="34" charset="-120"/>
              </a:rPr>
              <a:t>What the model can’t do</a:t>
            </a:r>
            <a:endParaRPr lang="en-US" sz="2200" dirty="0"/>
          </a:p>
        </p:txBody>
      </p:sp>
      <p:sp>
        <p:nvSpPr>
          <p:cNvPr id="7" name="Text 4"/>
          <p:cNvSpPr txBox="1"/>
          <p:nvPr/>
        </p:nvSpPr>
        <p:spPr>
          <a:xfrm>
            <a:off x="914400" y="2606040"/>
            <a:ext cx="4632808"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Show causes: it finds patterns, not proof</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See the product, video, rewards or the creator’s fan base</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Know the present: the data ends in early 2018</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Avoid false hope: 45% of “success” calls fail</a:t>
            </a:r>
            <a:endParaRPr lang="en-US" sz="1700" dirty="0"/>
          </a:p>
        </p:txBody>
      </p:sp>
      <p:sp>
        <p:nvSpPr>
          <p:cNvPr id="8" name="Card: What we would do next"/>
          <p:cNvSpPr/>
          <p:nvPr/>
        </p:nvSpPr>
        <p:spPr>
          <a:xfrm>
            <a:off x="6278728" y="1691640"/>
            <a:ext cx="5364328" cy="4023360"/>
          </a:xfrm>
          <a:prstGeom prst="roundRect">
            <a:avLst>
              <a:gd name="adj" fmla="val 2727"/>
            </a:avLst>
          </a:prstGeom>
          <a:solidFill>
            <a:srgbClr val="F2F4F8"/>
          </a:solidFill>
          <a:ln w="12700">
            <a:solidFill>
              <a:srgbClr val="F2F4F8"/>
            </a:solidFill>
            <a:prstDash val="solid"/>
          </a:ln>
        </p:spPr>
      </p:sp>
      <p:sp>
        <p:nvSpPr>
          <p:cNvPr id="9" name="Text 6"/>
          <p:cNvSpPr txBox="1"/>
          <p:nvPr/>
        </p:nvSpPr>
        <p:spPr>
          <a:xfrm>
            <a:off x="6644488" y="1965960"/>
            <a:ext cx="4632808" cy="502920"/>
          </a:xfrm>
          <a:prstGeom prst="rect">
            <a:avLst/>
          </a:prstGeom>
          <a:noFill/>
          <a:ln/>
        </p:spPr>
        <p:txBody>
          <a:bodyPr wrap="square" lIns="0" tIns="0" rIns="0" bIns="0" rtlCol="0" anchor="ctr"/>
          <a:lstStyle/>
          <a:p>
            <a:pPr indent="0" marL="0">
              <a:buNone/>
            </a:pPr>
            <a:r>
              <a:rPr lang="en-US" sz="2200" b="1" dirty="0">
                <a:solidFill>
                  <a:schemeClr val="accent3"/>
                </a:solidFill>
                <a:latin typeface="Calibri" pitchFamily="34" charset="0"/>
                <a:ea typeface="Calibri" pitchFamily="34" charset="-122"/>
                <a:cs typeface="Calibri" pitchFamily="34" charset="-120"/>
              </a:rPr>
              <a:t>What we would do next</a:t>
            </a:r>
            <a:endParaRPr lang="en-US" sz="2200" dirty="0"/>
          </a:p>
        </p:txBody>
      </p:sp>
      <p:sp>
        <p:nvSpPr>
          <p:cNvPr id="10" name="Text 7"/>
          <p:cNvSpPr txBox="1"/>
          <p:nvPr/>
        </p:nvSpPr>
        <p:spPr>
          <a:xfrm>
            <a:off x="6644488" y="2606040"/>
            <a:ext cx="4632808"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Add creator history, description text and rewards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Test on the newest campaigns, trained on older ones</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Refresh with data after 2018</a:t>
            </a:r>
            <a:endParaRPr lang="en-US" sz="1700" dirty="0"/>
          </a:p>
          <a:p>
            <a:pPr marL="342900" indent="-342900">
              <a:spcAft>
                <a:spcPts val="1000"/>
              </a:spcAft>
              <a:buSzPct val="100000"/>
              <a:buChar char="•"/>
            </a:pPr>
            <a:r>
              <a:rPr lang="en-US" sz="1700" dirty="0">
                <a:solidFill>
                  <a:schemeClr val="tx1"/>
                </a:solidFill>
                <a:latin typeface="Calibri" pitchFamily="34" charset="0"/>
                <a:ea typeface="Calibri" pitchFamily="34" charset="-122"/>
                <a:cs typeface="Calibri" pitchFamily="34" charset="-120"/>
              </a:rPr>
              <a:t>Build the Checker as a web tool and track its accuracy</a:t>
            </a:r>
            <a:endParaRPr lang="en-US" sz="1700" dirty="0"/>
          </a:p>
        </p:txBody>
      </p:sp>
      <p:sp>
        <p:nvSpPr>
          <p:cNvPr id="11" name="Text 0"/>
          <p:cNvSpPr/>
          <p:nvPr>
            <p:ph idx="102" type="body" hasCustomPrompt="1"/>
          </p:nvPr>
        </p:nvSpPr>
        <p:spPr>
          <a:xfrm>
            <a:off x="548640" y="6263640"/>
            <a:ext cx="10362895" cy="274320"/>
          </a:xfrm>
          <a:prstGeom prst="rect">
            <a:avLst/>
          </a:prstGeom>
          <a:noFill/>
          <a:ln/>
        </p:spPr>
        <p:txBody>
          <a:bodyPr wrap="square" lIns="0" tIns="0" rIns="0" bIns="0" rtlCol="0"/>
          <a:lstStyle/>
          <a:p>
            <a:pPr indent="0" marL="0">
              <a:buNone/>
            </a:pPr>
            <a:endParaRPr lang="en-US" sz="11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body" hasCustomPrompt="1"/>
          </p:nvPr>
        </p:nvSpPr>
        <p:spPr>
          <a:xfrm>
            <a:off x="548640" y="1554480"/>
            <a:ext cx="11094415" cy="411480"/>
          </a:xfrm>
          <a:prstGeom prst="rect">
            <a:avLst/>
          </a:prstGeom>
          <a:noFill/>
          <a:ln/>
        </p:spPr>
        <p:txBody>
          <a:bodyPr wrap="square" lIns="0" tIns="0" rIns="0" bIns="0" rtlCol="0"/>
          <a:lstStyle/>
          <a:p>
            <a:pPr indent="0" marL="0">
              <a:buNone/>
            </a:pPr>
            <a:r>
              <a:rPr lang="en-US" sz="1400" b="1" spc="300" kern="0" dirty="0">
                <a:solidFill>
                  <a:schemeClr val="accent5"/>
                </a:solidFill>
              </a:rPr>
              <a:t>THANK YOU</a:t>
            </a:r>
            <a:endParaRPr lang="en-US" sz="1400" dirty="0"/>
          </a:p>
        </p:txBody>
      </p:sp>
      <p:sp>
        <p:nvSpPr>
          <p:cNvPr id="4" name="Text 0"/>
          <p:cNvSpPr/>
          <p:nvPr>
            <p:ph idx="101" type="title" hasCustomPrompt="1"/>
          </p:nvPr>
        </p:nvSpPr>
        <p:spPr>
          <a:xfrm>
            <a:off x="548640" y="2011680"/>
            <a:ext cx="9601200" cy="1828800"/>
          </a:xfrm>
          <a:prstGeom prst="rect">
            <a:avLst/>
          </a:prstGeom>
          <a:noFill/>
          <a:ln/>
        </p:spPr>
        <p:txBody>
          <a:bodyPr wrap="square" lIns="0" tIns="0" rIns="0" bIns="0" rtlCol="0" anchor="t"/>
          <a:lstStyle/>
          <a:p>
            <a:pPr algn="l" indent="0" marL="0">
              <a:buNone/>
            </a:pPr>
            <a:r>
              <a:rPr lang="en-US" sz="5400" b="1" dirty="0">
                <a:solidFill>
                  <a:schemeClr val="bg1"/>
                </a:solidFill>
              </a:rPr>
              <a:t>Questions?</a:t>
            </a:r>
            <a:endParaRPr lang="en-US" sz="5400" dirty="0"/>
          </a:p>
        </p:txBody>
      </p:sp>
      <p:sp>
        <p:nvSpPr>
          <p:cNvPr id="5" name="Text 0"/>
          <p:cNvSpPr/>
          <p:nvPr>
            <p:ph idx="102" type="body" hasCustomPrompt="1"/>
          </p:nvPr>
        </p:nvSpPr>
        <p:spPr>
          <a:xfrm>
            <a:off x="548640" y="3977640"/>
            <a:ext cx="9144000" cy="914400"/>
          </a:xfrm>
          <a:prstGeom prst="rect">
            <a:avLst/>
          </a:prstGeom>
          <a:noFill/>
          <a:ln/>
        </p:spPr>
        <p:txBody>
          <a:bodyPr wrap="square" lIns="0" tIns="0" rIns="0" bIns="0" rtlCol="0" anchor="t"/>
          <a:lstStyle/>
          <a:p>
            <a:pPr indent="0" marL="0">
              <a:buNone/>
            </a:pPr>
            <a:r>
              <a:rPr lang="en-US" sz="2200" dirty="0">
                <a:solidFill>
                  <a:srgbClr val="C8D0DD"/>
                </a:solidFill>
              </a:rPr>
              <a:t>Ask for less, plan your campaign length, know your category, and check your odds before you launch.</a:t>
            </a:r>
            <a:endParaRPr lang="en-US" sz="2200" dirty="0"/>
          </a:p>
        </p:txBody>
      </p:sp>
      <p:sp>
        <p:nvSpPr>
          <p:cNvPr id="6" name="Text 0"/>
          <p:cNvSpPr/>
          <p:nvPr>
            <p:ph idx="103" type="body" hasCustomPrompt="1"/>
          </p:nvPr>
        </p:nvSpPr>
        <p:spPr>
          <a:xfrm>
            <a:off x="548640" y="6172200"/>
            <a:ext cx="11094415" cy="320040"/>
          </a:xfrm>
          <a:prstGeom prst="rect">
            <a:avLst/>
          </a:prstGeom>
          <a:noFill/>
          <a:ln/>
        </p:spPr>
        <p:txBody>
          <a:bodyPr wrap="square" lIns="0" tIns="0" rIns="0" bIns="0" rtlCol="0"/>
          <a:lstStyle/>
          <a:p>
            <a:pPr indent="0" marL="0">
              <a:buNone/>
            </a:pPr>
            <a:r>
              <a:rPr lang="en-US" sz="1200" dirty="0">
                <a:solidFill>
                  <a:srgbClr val="C8D0DD"/>
                </a:solidFill>
              </a:rPr>
              <a:t>[Team names] · Code and notebook: [GitHub repository link]</a:t>
            </a:r>
            <a:endParaRPr lang="en-US" sz="1200" dirty="0"/>
          </a:p>
        </p:txBody>
      </p:sp>
    </p:spTree>
  </p:cSld>
  <p:clrMapOvr>
    <a:masterClrMapping/>
  </p:clrMapOvr>
</p:sld>
</file>

<file path=ppt/theme/theme1.xml><?xml version="1.0" encoding="utf-8"?>
<a:theme xmlns:a="http://schemas.openxmlformats.org/drawingml/2006/main" name="Kickstarter Stakeholder">
  <a:themeElements>
    <a:clrScheme name="Kickstarter Stakeholder">
      <a:dk1>
        <a:srgbClr val="14213D"/>
      </a:dk1>
      <a:lt1>
        <a:srgbClr val="FFFFFF"/>
      </a:lt1>
      <a:dk2>
        <a:srgbClr val="4A5568"/>
      </a:dk2>
      <a:lt2>
        <a:srgbClr val="F2F4F8"/>
      </a:lt2>
      <a:accent1>
        <a:srgbClr val="2A78D6"/>
      </a:accent1>
      <a:accent2>
        <a:srgbClr val="EB6834"/>
      </a:accent2>
      <a:accent3>
        <a:srgbClr val="1C5CAB"/>
      </a:accent3>
      <a:accent4>
        <a:srgbClr val="C4501F"/>
      </a:accent4>
      <a:accent5>
        <a:srgbClr val="86B6EF"/>
      </a:accent5>
      <a:accent6>
        <a:srgbClr val="B9B7AF"/>
      </a:accent6>
      <a:hlink>
        <a:srgbClr val="1C5CAB"/>
      </a:hlink>
      <a:folHlink>
        <a:srgbClr val="6250D6"/>
      </a:folHlink>
    </a:clrScheme>
    <a:fontScheme name="Kickstarter Stakehold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Stakeholder Presentation: Will my campaign get funded?</dc:title>
  <dc:subject>Predicting Kickstarter success before launch</dc:subject>
  <dc:creator>[Team names]</dc:creator>
  <cp:lastModifiedBy>[Team names]</cp:lastModifiedBy>
  <cp:revision>1</cp:revision>
  <dcterms:created xsi:type="dcterms:W3CDTF">2026-10-20T15:40:14Z</dcterms:created>
  <dcterms:modified xsi:type="dcterms:W3CDTF">2026-10-20T15:40:14Z</dcterms:modified>
</cp:coreProperties>
</file>